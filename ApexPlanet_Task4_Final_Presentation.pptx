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I’m presenting my ApexPlanet Data Analytics Internship Task 4 project, titled Data Storytelling and Statistical Validation. I used my e-commerce sales dataset to investigate whether average sales differ across product categories. I will explain the dataset, the statistical methods, what the results mean, and what business actions are reasonable based on the evidence. The key point is to distinguish observed differences in averages from differences that are statistically supported.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question is whether average sales differ across product categories. A descriptive chart can rank observed averages, but ranking alone does not tell us whether the differences are statistically meaningful. The goal is to combine descriptive analysis with statistical validation. One important scope note: the test uses Total_Sales as recorded in each row. It should not be interpreted as a direct measure of profitability, long-term customer value, or causal impact.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cleaned dataset contains 1,000 rows and 15 columns. The analysis groups records into five product categories: Education, Electronics, Fashion, Furniture, and Grocery. The outcome variable is Total_Sales, and Category is the grouping variable. The category counts add up to 1,000, which matches the dataset size after preparation. This summary describes the data available for this analysis; it does not by itself establish that every record is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shows the observed mean sales for each category and the 95 percent confidence interval around each mean. Grocery has the highest observed average at about 145,305 rupees, followed closely by Electronics at about 143,442. Fashion has the lowest observed average at about 127,153. The confidence intervals overlap considerably. That visual overlap is not itself a formal significance test, so we use ANOVA as the main test for differences in means. These are averages of row-level Total_Sales values, not category totals.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null hypothesis states that the population mean Total_Sales is equal across all five categories. The alternative hypothesis states that at least one mean differs. We set the significance level at 0.05 before interpreting the result. The one-way ANOVA produced an F statistic of 0.717117 and a p-value of 0.580286. Because this p-value is larger than 0.05, we fail to reject the null hypothesis. This means the test did not find sufficient evidence of a difference in category means; it does not prove that the means are exactly identical.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validate the main result, I also ran Levene's test and the Kruskal–Wallis test. Levene's p-value was 0.418205, so we did not find statistically significant evidence of unequal variances. The Kruskal–Wallis test produced a statistic of 2.006635 and p-value of 0.734538, also not statistically significant. The data diagnostics show positive skew and some potential outliers, so I report the assumption checks transparently. Kruskal–Wallis compares distributions using ranks and is not a direct test of means. Finally, independence is a data-design question: if multiple rows belong to the same customer or order, that should be considered before making broader population claims.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conclusion is not that all categories perform identically, but that this dataset did not provide statistically significant evidence of different average sales. Grocery and Electronics have the highest observed means, but we should not turn that ranking into a causal claim or a firm investment decision. Recommended next steps are to monitor category sales over time, separate revenue from order volume and average order value, and assess customer or order-level aggregation so repeated observations do not distort uncertainty. More data and a clearly defined business outcome could support a stronger decision later.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combined descriptive sales analysis with statistical validation. The ANOVA p-value was 0.580286, so I failed to reject the null hypothesis that the category means are equal. The Kruskal–Wallis result was also not statistically significant, and Levene's test did not find significant evidence of unequal variances. The responsible business takeaway is to continue monitoring category performance and avoid strong claims based only on observed averages. Thank you for listening.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646"/>
        </a:solidFill>
        <a:effectLst/>
      </p:bgPr>
    </p:bg>
    <p:spTree>
      <p:nvGrpSpPr>
        <p:cNvPr id="1" name=""/>
        <p:cNvGrpSpPr/>
        <p:nvPr/>
      </p:nvGrpSpPr>
      <p:grpSpPr/>
      <p:sp>
        <p:nvSpPr>
          <p:cNvPr id="2" name="Rectangle 1"/>
          <p:cNvSpPr/>
          <p:nvPr/>
        </p:nvSpPr>
        <p:spPr>
          <a:xfrm>
            <a:off x="8503920" y="0"/>
            <a:ext cx="3657600" cy="109728"/>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26880" y="228600"/>
            <a:ext cx="2834640" cy="73152"/>
          </a:xfrm>
          <a:prstGeom prst="rect">
            <a:avLst/>
          </a:prstGeom>
          <a:solidFill>
            <a:srgbClr val="23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83680"/>
            <a:ext cx="3657600" cy="27432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51560"/>
            <a:ext cx="10241280" cy="411480"/>
          </a:xfrm>
          <a:prstGeom prst="rect">
            <a:avLst/>
          </a:prstGeom>
          <a:noFill/>
        </p:spPr>
        <p:txBody>
          <a:bodyPr wrap="square" anchor="t">
            <a:spAutoFit/>
          </a:bodyPr>
          <a:lstStyle/>
          <a:p>
            <a:r>
              <a:rPr sz="1600" b="1">
                <a:solidFill>
                  <a:srgbClr val="009691"/>
                </a:solidFill>
                <a:latin typeface="Aptos"/>
              </a:rPr>
              <a:t>APEXPLANET DATA ANALYTICS INTERNSHIP</a:t>
            </a:r>
          </a:p>
        </p:txBody>
      </p:sp>
      <p:sp>
        <p:nvSpPr>
          <p:cNvPr id="6" name="TextBox 5"/>
          <p:cNvSpPr txBox="1"/>
          <p:nvPr/>
        </p:nvSpPr>
        <p:spPr>
          <a:xfrm>
            <a:off x="822960" y="1828800"/>
            <a:ext cx="10424160" cy="1234440"/>
          </a:xfrm>
          <a:prstGeom prst="rect">
            <a:avLst/>
          </a:prstGeom>
          <a:noFill/>
        </p:spPr>
        <p:txBody>
          <a:bodyPr wrap="square" anchor="t">
            <a:spAutoFit/>
          </a:bodyPr>
          <a:lstStyle/>
          <a:p>
            <a:r>
              <a:rPr sz="3400" b="1">
                <a:solidFill>
                  <a:srgbClr val="FFFFFF"/>
                </a:solidFill>
                <a:latin typeface="Aptos"/>
              </a:rPr>
              <a:t>Data Storytelling &amp;
Statistical Validation</a:t>
            </a:r>
          </a:p>
        </p:txBody>
      </p:sp>
      <p:sp>
        <p:nvSpPr>
          <p:cNvPr id="7" name="TextBox 6"/>
          <p:cNvSpPr txBox="1"/>
          <p:nvPr/>
        </p:nvSpPr>
        <p:spPr>
          <a:xfrm>
            <a:off x="868680" y="3429000"/>
            <a:ext cx="9601200" cy="731520"/>
          </a:xfrm>
          <a:prstGeom prst="rect">
            <a:avLst/>
          </a:prstGeom>
          <a:noFill/>
        </p:spPr>
        <p:txBody>
          <a:bodyPr wrap="square" anchor="t">
            <a:spAutoFit/>
          </a:bodyPr>
          <a:lstStyle/>
          <a:p>
            <a:r>
              <a:rPr sz="2200" b="0">
                <a:solidFill>
                  <a:srgbClr val="D2DEEE"/>
                </a:solidFill>
                <a:latin typeface="Aptos"/>
              </a:rPr>
              <a:t>E-commerce Sales Analysis | Task 4</a:t>
            </a:r>
          </a:p>
        </p:txBody>
      </p:sp>
      <p:sp>
        <p:nvSpPr>
          <p:cNvPr id="8" name="TextBox 7"/>
          <p:cNvSpPr txBox="1"/>
          <p:nvPr/>
        </p:nvSpPr>
        <p:spPr>
          <a:xfrm>
            <a:off x="868680" y="5074920"/>
            <a:ext cx="9692640" cy="502920"/>
          </a:xfrm>
          <a:prstGeom prst="rect">
            <a:avLst/>
          </a:prstGeom>
          <a:noFill/>
        </p:spPr>
        <p:txBody>
          <a:bodyPr wrap="square" anchor="t">
            <a:spAutoFit/>
          </a:bodyPr>
          <a:lstStyle/>
          <a:p>
            <a:r>
              <a:rPr sz="1600" b="1">
                <a:solidFill>
                  <a:srgbClr val="FFFFFF"/>
                </a:solidFill>
                <a:latin typeface="Aptos"/>
              </a:rPr>
              <a:t>Prepared by: Navya Sri</a:t>
            </a:r>
          </a:p>
        </p:txBody>
      </p:sp>
      <p:sp>
        <p:nvSpPr>
          <p:cNvPr id="9" name="TextBox 8"/>
          <p:cNvSpPr txBox="1"/>
          <p:nvPr/>
        </p:nvSpPr>
        <p:spPr>
          <a:xfrm>
            <a:off x="868680" y="5623560"/>
            <a:ext cx="9875520" cy="411480"/>
          </a:xfrm>
          <a:prstGeom prst="rect">
            <a:avLst/>
          </a:prstGeom>
          <a:noFill/>
        </p:spPr>
        <p:txBody>
          <a:bodyPr wrap="square" anchor="t">
            <a:spAutoFit/>
          </a:bodyPr>
          <a:lstStyle/>
          <a:p>
            <a:r>
              <a:rPr sz="1400" b="0">
                <a:solidFill>
                  <a:srgbClr val="D2DEEE"/>
                </a:solidFill>
                <a:latin typeface="Aptos"/>
              </a:rPr>
              <a:t>Business question: Do average sales differ across product categories?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TextBox 1"/>
          <p:cNvSpPr txBox="1"/>
          <p:nvPr/>
        </p:nvSpPr>
        <p:spPr>
          <a:xfrm>
            <a:off x="594360" y="320040"/>
            <a:ext cx="10972800" cy="548640"/>
          </a:xfrm>
          <a:prstGeom prst="rect">
            <a:avLst/>
          </a:prstGeom>
          <a:noFill/>
        </p:spPr>
        <p:txBody>
          <a:bodyPr wrap="square" anchor="t">
            <a:spAutoFit/>
          </a:bodyPr>
          <a:lstStyle/>
          <a:p>
            <a:r>
              <a:rPr sz="2800" b="1">
                <a:solidFill>
                  <a:srgbClr val="142646"/>
                </a:solidFill>
                <a:latin typeface="Aptos"/>
              </a:rPr>
              <a:t>1. Business question and objective</a:t>
            </a:r>
          </a:p>
        </p:txBody>
      </p:sp>
      <p:sp>
        <p:nvSpPr>
          <p:cNvPr id="3" name="TextBox 2"/>
          <p:cNvSpPr txBox="1"/>
          <p:nvPr/>
        </p:nvSpPr>
        <p:spPr>
          <a:xfrm>
            <a:off x="621792" y="896112"/>
            <a:ext cx="10881360" cy="384048"/>
          </a:xfrm>
          <a:prstGeom prst="rect">
            <a:avLst/>
          </a:prstGeom>
          <a:noFill/>
        </p:spPr>
        <p:txBody>
          <a:bodyPr wrap="square" anchor="t">
            <a:spAutoFit/>
          </a:bodyPr>
          <a:lstStyle/>
          <a:p>
            <a:r>
              <a:rPr sz="1200" b="0">
                <a:solidFill>
                  <a:srgbClr val="5F6C7A"/>
                </a:solidFill>
                <a:latin typeface="Aptos"/>
              </a:rPr>
              <a:t>Turn category-level sales observations into evidence for decisions</a:t>
            </a:r>
          </a:p>
        </p:txBody>
      </p:sp>
      <p:sp>
        <p:nvSpPr>
          <p:cNvPr id="4" name="Rectangle 3"/>
          <p:cNvSpPr/>
          <p:nvPr/>
        </p:nvSpPr>
        <p:spPr>
          <a:xfrm>
            <a:off x="621792" y="1307592"/>
            <a:ext cx="1051560" cy="64008"/>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73952"/>
            <a:ext cx="457200" cy="182880"/>
          </a:xfrm>
          <a:prstGeom prst="rect">
            <a:avLst/>
          </a:prstGeom>
          <a:noFill/>
        </p:spPr>
        <p:txBody>
          <a:bodyPr wrap="square" anchor="t">
            <a:spAutoFit/>
          </a:bodyPr>
          <a:lstStyle/>
          <a:p>
            <a:pPr algn="r"/>
            <a:r>
              <a:rPr sz="900" b="0">
                <a:solidFill>
                  <a:srgbClr val="5F6C7A"/>
                </a:solidFill>
                <a:latin typeface="Aptos"/>
              </a:rPr>
              <a:t>2</a:t>
            </a:r>
          </a:p>
        </p:txBody>
      </p:sp>
      <p:sp>
        <p:nvSpPr>
          <p:cNvPr id="6" name="Rounded Rectangle 5"/>
          <p:cNvSpPr/>
          <p:nvPr/>
        </p:nvSpPr>
        <p:spPr>
          <a:xfrm>
            <a:off x="731520" y="1737360"/>
            <a:ext cx="3383280" cy="16459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82296" cy="1645920"/>
          </a:xfrm>
          <a:prstGeom prst="rect">
            <a:avLst/>
          </a:prstGeom>
          <a:solidFill>
            <a:srgbClr val="23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01952"/>
            <a:ext cx="3063240" cy="320040"/>
          </a:xfrm>
          <a:prstGeom prst="rect">
            <a:avLst/>
          </a:prstGeom>
          <a:noFill/>
        </p:spPr>
        <p:txBody>
          <a:bodyPr wrap="square" anchor="t">
            <a:spAutoFit/>
          </a:bodyPr>
          <a:lstStyle/>
          <a:p>
            <a:r>
              <a:rPr sz="1300" b="1">
                <a:solidFill>
                  <a:srgbClr val="5F6C7A"/>
                </a:solidFill>
                <a:latin typeface="Aptos"/>
              </a:rPr>
              <a:t>BUSINESS QUESTION</a:t>
            </a:r>
          </a:p>
        </p:txBody>
      </p:sp>
      <p:sp>
        <p:nvSpPr>
          <p:cNvPr id="9" name="TextBox 8"/>
          <p:cNvSpPr txBox="1"/>
          <p:nvPr/>
        </p:nvSpPr>
        <p:spPr>
          <a:xfrm>
            <a:off x="932688" y="2313432"/>
            <a:ext cx="3063240" cy="502920"/>
          </a:xfrm>
          <a:prstGeom prst="rect">
            <a:avLst/>
          </a:prstGeom>
          <a:noFill/>
        </p:spPr>
        <p:txBody>
          <a:bodyPr wrap="square" anchor="t">
            <a:spAutoFit/>
          </a:bodyPr>
          <a:lstStyle/>
          <a:p>
            <a:r>
              <a:rPr sz="2500" b="1">
                <a:solidFill>
                  <a:srgbClr val="142646"/>
                </a:solidFill>
                <a:latin typeface="Aptos"/>
              </a:rPr>
              <a:t>Do means differ?</a:t>
            </a:r>
          </a:p>
        </p:txBody>
      </p:sp>
      <p:sp>
        <p:nvSpPr>
          <p:cNvPr id="10" name="TextBox 9"/>
          <p:cNvSpPr txBox="1"/>
          <p:nvPr/>
        </p:nvSpPr>
        <p:spPr>
          <a:xfrm>
            <a:off x="932688" y="2852928"/>
            <a:ext cx="3063240" cy="475488"/>
          </a:xfrm>
          <a:prstGeom prst="rect">
            <a:avLst/>
          </a:prstGeom>
          <a:noFill/>
        </p:spPr>
        <p:txBody>
          <a:bodyPr wrap="square" anchor="t">
            <a:spAutoFit/>
          </a:bodyPr>
          <a:lstStyle/>
          <a:p>
            <a:r>
              <a:rPr sz="1000" b="0">
                <a:solidFill>
                  <a:srgbClr val="5F6C7A"/>
                </a:solidFill>
                <a:latin typeface="Aptos"/>
              </a:rPr>
              <a:t>Compare average Total_Sales across five categories.</a:t>
            </a:r>
          </a:p>
        </p:txBody>
      </p:sp>
      <p:sp>
        <p:nvSpPr>
          <p:cNvPr id="11" name="Rounded Rectangle 10"/>
          <p:cNvSpPr/>
          <p:nvPr/>
        </p:nvSpPr>
        <p:spPr>
          <a:xfrm>
            <a:off x="4389120" y="1737360"/>
            <a:ext cx="3383280" cy="16459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737360"/>
            <a:ext cx="82296" cy="164592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901952"/>
            <a:ext cx="3063240" cy="320040"/>
          </a:xfrm>
          <a:prstGeom prst="rect">
            <a:avLst/>
          </a:prstGeom>
          <a:noFill/>
        </p:spPr>
        <p:txBody>
          <a:bodyPr wrap="square" anchor="t">
            <a:spAutoFit/>
          </a:bodyPr>
          <a:lstStyle/>
          <a:p>
            <a:r>
              <a:rPr sz="1300" b="1">
                <a:solidFill>
                  <a:srgbClr val="5F6C7A"/>
                </a:solidFill>
                <a:latin typeface="Aptos"/>
              </a:rPr>
              <a:t>ANALYTICAL GOAL</a:t>
            </a:r>
          </a:p>
        </p:txBody>
      </p:sp>
      <p:sp>
        <p:nvSpPr>
          <p:cNvPr id="14" name="TextBox 13"/>
          <p:cNvSpPr txBox="1"/>
          <p:nvPr/>
        </p:nvSpPr>
        <p:spPr>
          <a:xfrm>
            <a:off x="4590288" y="2313432"/>
            <a:ext cx="3063240" cy="502920"/>
          </a:xfrm>
          <a:prstGeom prst="rect">
            <a:avLst/>
          </a:prstGeom>
          <a:noFill/>
        </p:spPr>
        <p:txBody>
          <a:bodyPr wrap="square" anchor="t">
            <a:spAutoFit/>
          </a:bodyPr>
          <a:lstStyle/>
          <a:p>
            <a:r>
              <a:rPr sz="2500" b="1">
                <a:solidFill>
                  <a:srgbClr val="142646"/>
                </a:solidFill>
                <a:latin typeface="Aptos"/>
              </a:rPr>
              <a:t>Test, don't guess</a:t>
            </a:r>
          </a:p>
        </p:txBody>
      </p:sp>
      <p:sp>
        <p:nvSpPr>
          <p:cNvPr id="15" name="TextBox 14"/>
          <p:cNvSpPr txBox="1"/>
          <p:nvPr/>
        </p:nvSpPr>
        <p:spPr>
          <a:xfrm>
            <a:off x="4590288" y="2852928"/>
            <a:ext cx="3063240" cy="475488"/>
          </a:xfrm>
          <a:prstGeom prst="rect">
            <a:avLst/>
          </a:prstGeom>
          <a:noFill/>
        </p:spPr>
        <p:txBody>
          <a:bodyPr wrap="square" anchor="t">
            <a:spAutoFit/>
          </a:bodyPr>
          <a:lstStyle/>
          <a:p>
            <a:r>
              <a:rPr sz="1000" b="0">
                <a:solidFill>
                  <a:srgbClr val="5F6C7A"/>
                </a:solidFill>
                <a:latin typeface="Aptos"/>
              </a:rPr>
              <a:t>Use statistical testing instead of relying only on the highest bar.</a:t>
            </a:r>
          </a:p>
        </p:txBody>
      </p:sp>
      <p:sp>
        <p:nvSpPr>
          <p:cNvPr id="16" name="Rounded Rectangle 15"/>
          <p:cNvSpPr/>
          <p:nvPr/>
        </p:nvSpPr>
        <p:spPr>
          <a:xfrm>
            <a:off x="8046720" y="1737360"/>
            <a:ext cx="3383280" cy="16459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737360"/>
            <a:ext cx="82296" cy="1645920"/>
          </a:xfrm>
          <a:prstGeom prst="rect">
            <a:avLst/>
          </a:prstGeom>
          <a:solidFill>
            <a:srgbClr val="E6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01952"/>
            <a:ext cx="3063240" cy="320040"/>
          </a:xfrm>
          <a:prstGeom prst="rect">
            <a:avLst/>
          </a:prstGeom>
          <a:noFill/>
        </p:spPr>
        <p:txBody>
          <a:bodyPr wrap="square" anchor="t">
            <a:spAutoFit/>
          </a:bodyPr>
          <a:lstStyle/>
          <a:p>
            <a:r>
              <a:rPr sz="1300" b="1">
                <a:solidFill>
                  <a:srgbClr val="5F6C7A"/>
                </a:solidFill>
                <a:latin typeface="Aptos"/>
              </a:rPr>
              <a:t>BUSINESS VALUE</a:t>
            </a:r>
          </a:p>
        </p:txBody>
      </p:sp>
      <p:sp>
        <p:nvSpPr>
          <p:cNvPr id="19" name="TextBox 18"/>
          <p:cNvSpPr txBox="1"/>
          <p:nvPr/>
        </p:nvSpPr>
        <p:spPr>
          <a:xfrm>
            <a:off x="8247888" y="2313432"/>
            <a:ext cx="3063240" cy="502920"/>
          </a:xfrm>
          <a:prstGeom prst="rect">
            <a:avLst/>
          </a:prstGeom>
          <a:noFill/>
        </p:spPr>
        <p:txBody>
          <a:bodyPr wrap="square" anchor="t">
            <a:spAutoFit/>
          </a:bodyPr>
          <a:lstStyle/>
          <a:p>
            <a:r>
              <a:rPr sz="2500" b="1">
                <a:solidFill>
                  <a:srgbClr val="142646"/>
                </a:solidFill>
                <a:latin typeface="Aptos"/>
              </a:rPr>
              <a:t>Better decisions</a:t>
            </a:r>
          </a:p>
        </p:txBody>
      </p:sp>
      <p:sp>
        <p:nvSpPr>
          <p:cNvPr id="20" name="TextBox 19"/>
          <p:cNvSpPr txBox="1"/>
          <p:nvPr/>
        </p:nvSpPr>
        <p:spPr>
          <a:xfrm>
            <a:off x="8247888" y="2852928"/>
            <a:ext cx="3063240" cy="475488"/>
          </a:xfrm>
          <a:prstGeom prst="rect">
            <a:avLst/>
          </a:prstGeom>
          <a:noFill/>
        </p:spPr>
        <p:txBody>
          <a:bodyPr wrap="square" anchor="t">
            <a:spAutoFit/>
          </a:bodyPr>
          <a:lstStyle/>
          <a:p>
            <a:r>
              <a:rPr sz="1000" b="0">
                <a:solidFill>
                  <a:srgbClr val="5F6C7A"/>
                </a:solidFill>
                <a:latin typeface="Aptos"/>
              </a:rPr>
              <a:t>Support planning, reporting, and future targeted analysis.</a:t>
            </a:r>
          </a:p>
        </p:txBody>
      </p:sp>
      <p:sp>
        <p:nvSpPr>
          <p:cNvPr id="21" name="TextBox 20"/>
          <p:cNvSpPr txBox="1"/>
          <p:nvPr/>
        </p:nvSpPr>
        <p:spPr>
          <a:xfrm>
            <a:off x="914400" y="3977639"/>
            <a:ext cx="10332720" cy="1828800"/>
          </a:xfrm>
          <a:prstGeom prst="rect">
            <a:avLst/>
          </a:prstGeom>
          <a:noFill/>
        </p:spPr>
        <p:txBody>
          <a:bodyPr wrap="square">
            <a:spAutoFit/>
          </a:bodyPr>
          <a:lstStyle/>
          <a:p>
            <a:pPr>
              <a:spcAft>
                <a:spcPts val="1200"/>
              </a:spcAft>
              <a:defRPr sz="1700">
                <a:solidFill>
                  <a:srgbClr val="2D3746"/>
                </a:solidFill>
                <a:latin typeface="Aptos"/>
              </a:defRPr>
            </a:pPr>
            <a:r>
              <a:t>Descriptive averages show what happened in this dataset.</a:t>
            </a:r>
          </a:p>
          <a:p>
            <a:pPr>
              <a:spcAft>
                <a:spcPts val="1200"/>
              </a:spcAft>
              <a:defRPr sz="1700">
                <a:solidFill>
                  <a:srgbClr val="2D3746"/>
                </a:solidFill>
                <a:latin typeface="Aptos"/>
              </a:defRPr>
            </a:pPr>
            <a:r>
              <a:t>Hypothesis testing evaluates whether the observed differences provide strong statistical evidence.</a:t>
            </a:r>
          </a:p>
          <a:p>
            <a:pPr>
              <a:spcAft>
                <a:spcPts val="1200"/>
              </a:spcAft>
              <a:defRPr sz="1700">
                <a:solidFill>
                  <a:srgbClr val="2D3746"/>
                </a:solidFill>
                <a:latin typeface="Aptos"/>
              </a:defRPr>
            </a:pPr>
            <a:r>
              <a:t>The analysis is about sales values recorded per row; it does not automatically measure profit or customer lifetime value.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TextBox 1"/>
          <p:cNvSpPr txBox="1"/>
          <p:nvPr/>
        </p:nvSpPr>
        <p:spPr>
          <a:xfrm>
            <a:off x="594360" y="320040"/>
            <a:ext cx="10972800" cy="548640"/>
          </a:xfrm>
          <a:prstGeom prst="rect">
            <a:avLst/>
          </a:prstGeom>
          <a:noFill/>
        </p:spPr>
        <p:txBody>
          <a:bodyPr wrap="square" anchor="t">
            <a:spAutoFit/>
          </a:bodyPr>
          <a:lstStyle/>
          <a:p>
            <a:r>
              <a:rPr sz="2800" b="1">
                <a:solidFill>
                  <a:srgbClr val="142646"/>
                </a:solidFill>
                <a:latin typeface="Aptos"/>
              </a:rPr>
              <a:t>2. Dataset overview</a:t>
            </a:r>
          </a:p>
        </p:txBody>
      </p:sp>
      <p:sp>
        <p:nvSpPr>
          <p:cNvPr id="3" name="TextBox 2"/>
          <p:cNvSpPr txBox="1"/>
          <p:nvPr/>
        </p:nvSpPr>
        <p:spPr>
          <a:xfrm>
            <a:off x="621792" y="896112"/>
            <a:ext cx="10881360" cy="384048"/>
          </a:xfrm>
          <a:prstGeom prst="rect">
            <a:avLst/>
          </a:prstGeom>
          <a:noFill/>
        </p:spPr>
        <p:txBody>
          <a:bodyPr wrap="square" anchor="t">
            <a:spAutoFit/>
          </a:bodyPr>
          <a:lstStyle/>
          <a:p>
            <a:r>
              <a:rPr sz="1200" b="0">
                <a:solidFill>
                  <a:srgbClr val="5F6C7A"/>
                </a:solidFill>
                <a:latin typeface="Aptos"/>
              </a:rPr>
              <a:t>Cleaned e-commerce dataset used for the statistical analysis</a:t>
            </a:r>
          </a:p>
        </p:txBody>
      </p:sp>
      <p:sp>
        <p:nvSpPr>
          <p:cNvPr id="4" name="Rectangle 3"/>
          <p:cNvSpPr/>
          <p:nvPr/>
        </p:nvSpPr>
        <p:spPr>
          <a:xfrm>
            <a:off x="621792" y="1307592"/>
            <a:ext cx="1051560" cy="64008"/>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73952"/>
            <a:ext cx="457200" cy="182880"/>
          </a:xfrm>
          <a:prstGeom prst="rect">
            <a:avLst/>
          </a:prstGeom>
          <a:noFill/>
        </p:spPr>
        <p:txBody>
          <a:bodyPr wrap="square" anchor="t">
            <a:spAutoFit/>
          </a:bodyPr>
          <a:lstStyle/>
          <a:p>
            <a:pPr algn="r"/>
            <a:r>
              <a:rPr sz="900" b="0">
                <a:solidFill>
                  <a:srgbClr val="5F6C7A"/>
                </a:solidFill>
                <a:latin typeface="Aptos"/>
              </a:rPr>
              <a:t>3</a:t>
            </a:r>
          </a:p>
        </p:txBody>
      </p:sp>
      <p:sp>
        <p:nvSpPr>
          <p:cNvPr id="6" name="Rounded Rectangle 5"/>
          <p:cNvSpPr/>
          <p:nvPr/>
        </p:nvSpPr>
        <p:spPr>
          <a:xfrm>
            <a:off x="777240" y="1737360"/>
            <a:ext cx="242316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82296" cy="1508760"/>
          </a:xfrm>
          <a:prstGeom prst="rect">
            <a:avLst/>
          </a:prstGeom>
          <a:solidFill>
            <a:srgbClr val="23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1901952"/>
            <a:ext cx="2103120" cy="320040"/>
          </a:xfrm>
          <a:prstGeom prst="rect">
            <a:avLst/>
          </a:prstGeom>
          <a:noFill/>
        </p:spPr>
        <p:txBody>
          <a:bodyPr wrap="square" anchor="t">
            <a:spAutoFit/>
          </a:bodyPr>
          <a:lstStyle/>
          <a:p>
            <a:r>
              <a:rPr sz="1300" b="1">
                <a:solidFill>
                  <a:srgbClr val="5F6C7A"/>
                </a:solidFill>
                <a:latin typeface="Aptos"/>
              </a:rPr>
              <a:t>RECORDS</a:t>
            </a:r>
          </a:p>
        </p:txBody>
      </p:sp>
      <p:sp>
        <p:nvSpPr>
          <p:cNvPr id="9" name="TextBox 8"/>
          <p:cNvSpPr txBox="1"/>
          <p:nvPr/>
        </p:nvSpPr>
        <p:spPr>
          <a:xfrm>
            <a:off x="978408" y="2313432"/>
            <a:ext cx="2103120" cy="502920"/>
          </a:xfrm>
          <a:prstGeom prst="rect">
            <a:avLst/>
          </a:prstGeom>
          <a:noFill/>
        </p:spPr>
        <p:txBody>
          <a:bodyPr wrap="square" anchor="t">
            <a:spAutoFit/>
          </a:bodyPr>
          <a:lstStyle/>
          <a:p>
            <a:r>
              <a:rPr sz="2500" b="1">
                <a:solidFill>
                  <a:srgbClr val="142646"/>
                </a:solidFill>
                <a:latin typeface="Aptos"/>
              </a:rPr>
              <a:t>1,000</a:t>
            </a:r>
          </a:p>
        </p:txBody>
      </p:sp>
      <p:sp>
        <p:nvSpPr>
          <p:cNvPr id="10" name="TextBox 9"/>
          <p:cNvSpPr txBox="1"/>
          <p:nvPr/>
        </p:nvSpPr>
        <p:spPr>
          <a:xfrm>
            <a:off x="978408" y="2852928"/>
            <a:ext cx="2103120" cy="338327"/>
          </a:xfrm>
          <a:prstGeom prst="rect">
            <a:avLst/>
          </a:prstGeom>
          <a:noFill/>
        </p:spPr>
        <p:txBody>
          <a:bodyPr wrap="square" anchor="t">
            <a:spAutoFit/>
          </a:bodyPr>
          <a:lstStyle/>
          <a:p>
            <a:r>
              <a:rPr sz="1000" b="0">
                <a:solidFill>
                  <a:srgbClr val="5F6C7A"/>
                </a:solidFill>
                <a:latin typeface="Aptos"/>
              </a:rPr>
              <a:t>Rows loaded successfully</a:t>
            </a:r>
          </a:p>
        </p:txBody>
      </p:sp>
      <p:sp>
        <p:nvSpPr>
          <p:cNvPr id="11" name="Rounded Rectangle 10"/>
          <p:cNvSpPr/>
          <p:nvPr/>
        </p:nvSpPr>
        <p:spPr>
          <a:xfrm>
            <a:off x="3429000" y="1737360"/>
            <a:ext cx="242316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737360"/>
            <a:ext cx="82296" cy="150876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1901952"/>
            <a:ext cx="2103120" cy="320040"/>
          </a:xfrm>
          <a:prstGeom prst="rect">
            <a:avLst/>
          </a:prstGeom>
          <a:noFill/>
        </p:spPr>
        <p:txBody>
          <a:bodyPr wrap="square" anchor="t">
            <a:spAutoFit/>
          </a:bodyPr>
          <a:lstStyle/>
          <a:p>
            <a:r>
              <a:rPr sz="1300" b="1">
                <a:solidFill>
                  <a:srgbClr val="5F6C7A"/>
                </a:solidFill>
                <a:latin typeface="Aptos"/>
              </a:rPr>
              <a:t>COLUMNS</a:t>
            </a:r>
          </a:p>
        </p:txBody>
      </p:sp>
      <p:sp>
        <p:nvSpPr>
          <p:cNvPr id="14" name="TextBox 13"/>
          <p:cNvSpPr txBox="1"/>
          <p:nvPr/>
        </p:nvSpPr>
        <p:spPr>
          <a:xfrm>
            <a:off x="3630168" y="2313432"/>
            <a:ext cx="2103120" cy="502920"/>
          </a:xfrm>
          <a:prstGeom prst="rect">
            <a:avLst/>
          </a:prstGeom>
          <a:noFill/>
        </p:spPr>
        <p:txBody>
          <a:bodyPr wrap="square" anchor="t">
            <a:spAutoFit/>
          </a:bodyPr>
          <a:lstStyle/>
          <a:p>
            <a:r>
              <a:rPr sz="2500" b="1">
                <a:solidFill>
                  <a:srgbClr val="142646"/>
                </a:solidFill>
                <a:latin typeface="Aptos"/>
              </a:rPr>
              <a:t>15</a:t>
            </a:r>
          </a:p>
        </p:txBody>
      </p:sp>
      <p:sp>
        <p:nvSpPr>
          <p:cNvPr id="15" name="TextBox 14"/>
          <p:cNvSpPr txBox="1"/>
          <p:nvPr/>
        </p:nvSpPr>
        <p:spPr>
          <a:xfrm>
            <a:off x="3630168" y="2852928"/>
            <a:ext cx="2103120" cy="338327"/>
          </a:xfrm>
          <a:prstGeom prst="rect">
            <a:avLst/>
          </a:prstGeom>
          <a:noFill/>
        </p:spPr>
        <p:txBody>
          <a:bodyPr wrap="square" anchor="t">
            <a:spAutoFit/>
          </a:bodyPr>
          <a:lstStyle/>
          <a:p>
            <a:r>
              <a:rPr sz="1000" b="0">
                <a:solidFill>
                  <a:srgbClr val="5F6C7A"/>
                </a:solidFill>
                <a:latin typeface="Aptos"/>
              </a:rPr>
              <a:t>Fields in the dataset</a:t>
            </a:r>
          </a:p>
        </p:txBody>
      </p:sp>
      <p:sp>
        <p:nvSpPr>
          <p:cNvPr id="16" name="Rounded Rectangle 15"/>
          <p:cNvSpPr/>
          <p:nvPr/>
        </p:nvSpPr>
        <p:spPr>
          <a:xfrm>
            <a:off x="6080760" y="1737360"/>
            <a:ext cx="242316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80760" y="1737360"/>
            <a:ext cx="82296" cy="1508760"/>
          </a:xfrm>
          <a:prstGeom prst="rect">
            <a:avLst/>
          </a:prstGeom>
          <a:solidFill>
            <a:srgbClr val="E6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01952"/>
            <a:ext cx="2103120" cy="320040"/>
          </a:xfrm>
          <a:prstGeom prst="rect">
            <a:avLst/>
          </a:prstGeom>
          <a:noFill/>
        </p:spPr>
        <p:txBody>
          <a:bodyPr wrap="square" anchor="t">
            <a:spAutoFit/>
          </a:bodyPr>
          <a:lstStyle/>
          <a:p>
            <a:r>
              <a:rPr sz="1300" b="1">
                <a:solidFill>
                  <a:srgbClr val="5F6C7A"/>
                </a:solidFill>
                <a:latin typeface="Aptos"/>
              </a:rPr>
              <a:t>CATEGORIES</a:t>
            </a:r>
          </a:p>
        </p:txBody>
      </p:sp>
      <p:sp>
        <p:nvSpPr>
          <p:cNvPr id="19" name="TextBox 18"/>
          <p:cNvSpPr txBox="1"/>
          <p:nvPr/>
        </p:nvSpPr>
        <p:spPr>
          <a:xfrm>
            <a:off x="6281928" y="2313432"/>
            <a:ext cx="2103120" cy="502920"/>
          </a:xfrm>
          <a:prstGeom prst="rect">
            <a:avLst/>
          </a:prstGeom>
          <a:noFill/>
        </p:spPr>
        <p:txBody>
          <a:bodyPr wrap="square" anchor="t">
            <a:spAutoFit/>
          </a:bodyPr>
          <a:lstStyle/>
          <a:p>
            <a:r>
              <a:rPr sz="2500" b="1">
                <a:solidFill>
                  <a:srgbClr val="142646"/>
                </a:solidFill>
                <a:latin typeface="Aptos"/>
              </a:rPr>
              <a:t>5</a:t>
            </a:r>
          </a:p>
        </p:txBody>
      </p:sp>
      <p:sp>
        <p:nvSpPr>
          <p:cNvPr id="20" name="TextBox 19"/>
          <p:cNvSpPr txBox="1"/>
          <p:nvPr/>
        </p:nvSpPr>
        <p:spPr>
          <a:xfrm>
            <a:off x="6281928" y="2852928"/>
            <a:ext cx="2103120" cy="338327"/>
          </a:xfrm>
          <a:prstGeom prst="rect">
            <a:avLst/>
          </a:prstGeom>
          <a:noFill/>
        </p:spPr>
        <p:txBody>
          <a:bodyPr wrap="square" anchor="t">
            <a:spAutoFit/>
          </a:bodyPr>
          <a:lstStyle/>
          <a:p>
            <a:r>
              <a:rPr sz="1000" b="0">
                <a:solidFill>
                  <a:srgbClr val="5F6C7A"/>
                </a:solidFill>
                <a:latin typeface="Aptos"/>
              </a:rPr>
              <a:t>Education, Electronics, Fashion, Furniture, Grocery</a:t>
            </a:r>
          </a:p>
        </p:txBody>
      </p:sp>
      <p:sp>
        <p:nvSpPr>
          <p:cNvPr id="21" name="Rounded Rectangle 20"/>
          <p:cNvSpPr/>
          <p:nvPr/>
        </p:nvSpPr>
        <p:spPr>
          <a:xfrm>
            <a:off x="8732520" y="1737360"/>
            <a:ext cx="242316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732520" y="1737360"/>
            <a:ext cx="82296" cy="1508760"/>
          </a:xfrm>
          <a:prstGeom prst="rect">
            <a:avLst/>
          </a:prstGeom>
          <a:solidFill>
            <a:srgbClr val="28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33688" y="1901952"/>
            <a:ext cx="2103120" cy="320040"/>
          </a:xfrm>
          <a:prstGeom prst="rect">
            <a:avLst/>
          </a:prstGeom>
          <a:noFill/>
        </p:spPr>
        <p:txBody>
          <a:bodyPr wrap="square" anchor="t">
            <a:spAutoFit/>
          </a:bodyPr>
          <a:lstStyle/>
          <a:p>
            <a:r>
              <a:rPr sz="1300" b="1">
                <a:solidFill>
                  <a:srgbClr val="5F6C7A"/>
                </a:solidFill>
                <a:latin typeface="Aptos"/>
              </a:rPr>
              <a:t>VALID GROUPS</a:t>
            </a:r>
          </a:p>
        </p:txBody>
      </p:sp>
      <p:sp>
        <p:nvSpPr>
          <p:cNvPr id="24" name="TextBox 23"/>
          <p:cNvSpPr txBox="1"/>
          <p:nvPr/>
        </p:nvSpPr>
        <p:spPr>
          <a:xfrm>
            <a:off x="8933688" y="2313432"/>
            <a:ext cx="2103120" cy="502920"/>
          </a:xfrm>
          <a:prstGeom prst="rect">
            <a:avLst/>
          </a:prstGeom>
          <a:noFill/>
        </p:spPr>
        <p:txBody>
          <a:bodyPr wrap="square" anchor="t">
            <a:spAutoFit/>
          </a:bodyPr>
          <a:lstStyle/>
          <a:p>
            <a:r>
              <a:rPr sz="2500" b="1">
                <a:solidFill>
                  <a:srgbClr val="142646"/>
                </a:solidFill>
                <a:latin typeface="Aptos"/>
              </a:rPr>
              <a:t>1,000</a:t>
            </a:r>
          </a:p>
        </p:txBody>
      </p:sp>
      <p:sp>
        <p:nvSpPr>
          <p:cNvPr id="25" name="TextBox 24"/>
          <p:cNvSpPr txBox="1"/>
          <p:nvPr/>
        </p:nvSpPr>
        <p:spPr>
          <a:xfrm>
            <a:off x="8933688" y="2852928"/>
            <a:ext cx="2103120" cy="338327"/>
          </a:xfrm>
          <a:prstGeom prst="rect">
            <a:avLst/>
          </a:prstGeom>
          <a:noFill/>
        </p:spPr>
        <p:txBody>
          <a:bodyPr wrap="square" anchor="t">
            <a:spAutoFit/>
          </a:bodyPr>
          <a:lstStyle/>
          <a:p>
            <a:r>
              <a:rPr sz="1000" b="0">
                <a:solidFill>
                  <a:srgbClr val="5F6C7A"/>
                </a:solidFill>
                <a:latin typeface="Aptos"/>
              </a:rPr>
              <a:t>178 + 354 + 156 + 159 + 153 records</a:t>
            </a:r>
          </a:p>
        </p:txBody>
      </p:sp>
      <p:sp>
        <p:nvSpPr>
          <p:cNvPr id="26" name="TextBox 25"/>
          <p:cNvSpPr txBox="1"/>
          <p:nvPr/>
        </p:nvSpPr>
        <p:spPr>
          <a:xfrm>
            <a:off x="868680" y="3840480"/>
            <a:ext cx="10515600" cy="457200"/>
          </a:xfrm>
          <a:prstGeom prst="rect">
            <a:avLst/>
          </a:prstGeom>
          <a:noFill/>
        </p:spPr>
        <p:txBody>
          <a:bodyPr wrap="square" anchor="t">
            <a:spAutoFit/>
          </a:bodyPr>
          <a:lstStyle/>
          <a:p>
            <a:r>
              <a:rPr sz="2000" b="1">
                <a:solidFill>
                  <a:srgbClr val="142646"/>
                </a:solidFill>
                <a:latin typeface="Aptos"/>
              </a:rPr>
              <a:t>Fields used</a:t>
            </a:r>
          </a:p>
        </p:txBody>
      </p:sp>
      <p:sp>
        <p:nvSpPr>
          <p:cNvPr id="27" name="TextBox 26"/>
          <p:cNvSpPr txBox="1"/>
          <p:nvPr/>
        </p:nvSpPr>
        <p:spPr>
          <a:xfrm>
            <a:off x="914400" y="4389120"/>
            <a:ext cx="10424160" cy="1508760"/>
          </a:xfrm>
          <a:prstGeom prst="rect">
            <a:avLst/>
          </a:prstGeom>
          <a:noFill/>
        </p:spPr>
        <p:txBody>
          <a:bodyPr wrap="square">
            <a:spAutoFit/>
          </a:bodyPr>
          <a:lstStyle/>
          <a:p>
            <a:pPr>
              <a:spcAft>
                <a:spcPts val="800"/>
              </a:spcAft>
              <a:defRPr sz="1700">
                <a:solidFill>
                  <a:srgbClr val="2D3746"/>
                </a:solidFill>
                <a:latin typeface="Aptos"/>
              </a:defRPr>
            </a:pPr>
            <a:r>
              <a:t>Category: grouping variable</a:t>
            </a:r>
          </a:p>
          <a:p>
            <a:pPr>
              <a:spcAft>
                <a:spcPts val="800"/>
              </a:spcAft>
              <a:defRPr sz="1700">
                <a:solidFill>
                  <a:srgbClr val="2D3746"/>
                </a:solidFill>
                <a:latin typeface="Aptos"/>
              </a:defRPr>
            </a:pPr>
            <a:r>
              <a:t>Total_Sales: numeric outcome variable</a:t>
            </a:r>
          </a:p>
          <a:p>
            <a:pPr>
              <a:spcAft>
                <a:spcPts val="800"/>
              </a:spcAft>
              <a:defRPr sz="1700">
                <a:solidFill>
                  <a:srgbClr val="2D3746"/>
                </a:solidFill>
                <a:latin typeface="Aptos"/>
              </a:defRPr>
            </a:pPr>
            <a:r>
              <a:t>Rows with missing/invalid values in these two fields were excluded from the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TextBox 1"/>
          <p:cNvSpPr txBox="1"/>
          <p:nvPr/>
        </p:nvSpPr>
        <p:spPr>
          <a:xfrm>
            <a:off x="594360" y="320040"/>
            <a:ext cx="10972800" cy="548640"/>
          </a:xfrm>
          <a:prstGeom prst="rect">
            <a:avLst/>
          </a:prstGeom>
          <a:noFill/>
        </p:spPr>
        <p:txBody>
          <a:bodyPr wrap="square" anchor="t">
            <a:spAutoFit/>
          </a:bodyPr>
          <a:lstStyle/>
          <a:p>
            <a:r>
              <a:rPr sz="2800" b="1">
                <a:solidFill>
                  <a:srgbClr val="142646"/>
                </a:solidFill>
                <a:latin typeface="Aptos"/>
              </a:rPr>
              <a:t>3. Average sales by category</a:t>
            </a:r>
          </a:p>
        </p:txBody>
      </p:sp>
      <p:sp>
        <p:nvSpPr>
          <p:cNvPr id="3" name="TextBox 2"/>
          <p:cNvSpPr txBox="1"/>
          <p:nvPr/>
        </p:nvSpPr>
        <p:spPr>
          <a:xfrm>
            <a:off x="621792" y="896112"/>
            <a:ext cx="10881360" cy="384048"/>
          </a:xfrm>
          <a:prstGeom prst="rect">
            <a:avLst/>
          </a:prstGeom>
          <a:noFill/>
        </p:spPr>
        <p:txBody>
          <a:bodyPr wrap="square" anchor="t">
            <a:spAutoFit/>
          </a:bodyPr>
          <a:lstStyle/>
          <a:p>
            <a:r>
              <a:rPr sz="1200" b="0">
                <a:solidFill>
                  <a:srgbClr val="5F6C7A"/>
                </a:solidFill>
                <a:latin typeface="Aptos"/>
              </a:rPr>
              <a:t>Observed mean sales with 95% confidence intervals (₹)</a:t>
            </a:r>
          </a:p>
        </p:txBody>
      </p:sp>
      <p:sp>
        <p:nvSpPr>
          <p:cNvPr id="4" name="Rectangle 3"/>
          <p:cNvSpPr/>
          <p:nvPr/>
        </p:nvSpPr>
        <p:spPr>
          <a:xfrm>
            <a:off x="621792" y="1307592"/>
            <a:ext cx="1051560" cy="64008"/>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73952"/>
            <a:ext cx="457200" cy="182880"/>
          </a:xfrm>
          <a:prstGeom prst="rect">
            <a:avLst/>
          </a:prstGeom>
          <a:noFill/>
        </p:spPr>
        <p:txBody>
          <a:bodyPr wrap="square" anchor="t">
            <a:spAutoFit/>
          </a:bodyPr>
          <a:lstStyle/>
          <a:p>
            <a:pPr algn="r"/>
            <a:r>
              <a:rPr sz="900" b="0">
                <a:solidFill>
                  <a:srgbClr val="5F6C7A"/>
                </a:solidFill>
                <a:latin typeface="Aptos"/>
              </a:rPr>
              <a:t>4</a:t>
            </a:r>
          </a:p>
        </p:txBody>
      </p:sp>
      <p:sp>
        <p:nvSpPr>
          <p:cNvPr id="6" name="Rectangle 5"/>
          <p:cNvSpPr/>
          <p:nvPr/>
        </p:nvSpPr>
        <p:spPr>
          <a:xfrm>
            <a:off x="914400" y="5852160"/>
            <a:ext cx="7498079" cy="10972"/>
          </a:xfrm>
          <a:prstGeom prst="rect">
            <a:avLst/>
          </a:prstGeom>
          <a:solidFill>
            <a:srgbClr val="D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5742432"/>
            <a:ext cx="457200" cy="228600"/>
          </a:xfrm>
          <a:prstGeom prst="rect">
            <a:avLst/>
          </a:prstGeom>
          <a:noFill/>
        </p:spPr>
        <p:txBody>
          <a:bodyPr wrap="square" anchor="t">
            <a:spAutoFit/>
          </a:bodyPr>
          <a:lstStyle/>
          <a:p>
            <a:pPr algn="r"/>
            <a:r>
              <a:rPr sz="900" b="0">
                <a:solidFill>
                  <a:srgbClr val="5F6C7A"/>
                </a:solidFill>
                <a:latin typeface="Aptos"/>
              </a:rPr>
              <a:t>0k</a:t>
            </a:r>
          </a:p>
        </p:txBody>
      </p:sp>
      <p:sp>
        <p:nvSpPr>
          <p:cNvPr id="8" name="Rectangle 7"/>
          <p:cNvSpPr/>
          <p:nvPr/>
        </p:nvSpPr>
        <p:spPr>
          <a:xfrm>
            <a:off x="914400" y="4734560"/>
            <a:ext cx="7498079" cy="10972"/>
          </a:xfrm>
          <a:prstGeom prst="rect">
            <a:avLst/>
          </a:prstGeom>
          <a:solidFill>
            <a:srgbClr val="D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4624832"/>
            <a:ext cx="457200" cy="228600"/>
          </a:xfrm>
          <a:prstGeom prst="rect">
            <a:avLst/>
          </a:prstGeom>
          <a:noFill/>
        </p:spPr>
        <p:txBody>
          <a:bodyPr wrap="square" anchor="t">
            <a:spAutoFit/>
          </a:bodyPr>
          <a:lstStyle/>
          <a:p>
            <a:pPr algn="r"/>
            <a:r>
              <a:rPr sz="900" b="0">
                <a:solidFill>
                  <a:srgbClr val="5F6C7A"/>
                </a:solidFill>
                <a:latin typeface="Aptos"/>
              </a:rPr>
              <a:t>50k</a:t>
            </a:r>
          </a:p>
        </p:txBody>
      </p:sp>
      <p:sp>
        <p:nvSpPr>
          <p:cNvPr id="10" name="Rectangle 9"/>
          <p:cNvSpPr/>
          <p:nvPr/>
        </p:nvSpPr>
        <p:spPr>
          <a:xfrm>
            <a:off x="914400" y="3616960"/>
            <a:ext cx="7498079" cy="10972"/>
          </a:xfrm>
          <a:prstGeom prst="rect">
            <a:avLst/>
          </a:prstGeom>
          <a:solidFill>
            <a:srgbClr val="D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3507232"/>
            <a:ext cx="457200" cy="228600"/>
          </a:xfrm>
          <a:prstGeom prst="rect">
            <a:avLst/>
          </a:prstGeom>
          <a:noFill/>
        </p:spPr>
        <p:txBody>
          <a:bodyPr wrap="square" anchor="t">
            <a:spAutoFit/>
          </a:bodyPr>
          <a:lstStyle/>
          <a:p>
            <a:pPr algn="r"/>
            <a:r>
              <a:rPr sz="900" b="0">
                <a:solidFill>
                  <a:srgbClr val="5F6C7A"/>
                </a:solidFill>
                <a:latin typeface="Aptos"/>
              </a:rPr>
              <a:t>100k</a:t>
            </a:r>
          </a:p>
        </p:txBody>
      </p:sp>
      <p:sp>
        <p:nvSpPr>
          <p:cNvPr id="12" name="Rectangle 11"/>
          <p:cNvSpPr/>
          <p:nvPr/>
        </p:nvSpPr>
        <p:spPr>
          <a:xfrm>
            <a:off x="914400" y="2499360"/>
            <a:ext cx="7498079" cy="10972"/>
          </a:xfrm>
          <a:prstGeom prst="rect">
            <a:avLst/>
          </a:prstGeom>
          <a:solidFill>
            <a:srgbClr val="D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389632"/>
            <a:ext cx="457200" cy="228600"/>
          </a:xfrm>
          <a:prstGeom prst="rect">
            <a:avLst/>
          </a:prstGeom>
          <a:noFill/>
        </p:spPr>
        <p:txBody>
          <a:bodyPr wrap="square" anchor="t">
            <a:spAutoFit/>
          </a:bodyPr>
          <a:lstStyle/>
          <a:p>
            <a:pPr algn="r"/>
            <a:r>
              <a:rPr sz="900" b="0">
                <a:solidFill>
                  <a:srgbClr val="5F6C7A"/>
                </a:solidFill>
                <a:latin typeface="Aptos"/>
              </a:rPr>
              <a:t>150k</a:t>
            </a:r>
          </a:p>
        </p:txBody>
      </p:sp>
      <p:sp>
        <p:nvSpPr>
          <p:cNvPr id="14" name="Rectangle 13"/>
          <p:cNvSpPr/>
          <p:nvPr/>
        </p:nvSpPr>
        <p:spPr>
          <a:xfrm>
            <a:off x="1417320" y="2708854"/>
            <a:ext cx="685800" cy="3143305"/>
          </a:xfrm>
          <a:prstGeom prst="rect">
            <a:avLst/>
          </a:prstGeom>
          <a:solidFill>
            <a:srgbClr val="23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49247" y="2322512"/>
            <a:ext cx="21945" cy="772684"/>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650492" y="2322512"/>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50492" y="3095197"/>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5961888"/>
            <a:ext cx="1143000" cy="411480"/>
          </a:xfrm>
          <a:prstGeom prst="rect">
            <a:avLst/>
          </a:prstGeom>
          <a:noFill/>
        </p:spPr>
        <p:txBody>
          <a:bodyPr wrap="square" anchor="t">
            <a:spAutoFit/>
          </a:bodyPr>
          <a:lstStyle/>
          <a:p>
            <a:pPr algn="ctr"/>
            <a:r>
              <a:rPr sz="1000" b="1">
                <a:solidFill>
                  <a:srgbClr val="2D3746"/>
                </a:solidFill>
                <a:latin typeface="Aptos"/>
              </a:rPr>
              <a:t>Education</a:t>
            </a:r>
          </a:p>
        </p:txBody>
      </p:sp>
      <p:sp>
        <p:nvSpPr>
          <p:cNvPr id="19" name="TextBox 18"/>
          <p:cNvSpPr txBox="1"/>
          <p:nvPr/>
        </p:nvSpPr>
        <p:spPr>
          <a:xfrm>
            <a:off x="1188720" y="2416246"/>
            <a:ext cx="1143000" cy="228600"/>
          </a:xfrm>
          <a:prstGeom prst="rect">
            <a:avLst/>
          </a:prstGeom>
          <a:noFill/>
        </p:spPr>
        <p:txBody>
          <a:bodyPr wrap="square" anchor="t">
            <a:spAutoFit/>
          </a:bodyPr>
          <a:lstStyle/>
          <a:p>
            <a:pPr algn="ctr"/>
            <a:r>
              <a:rPr sz="1000" b="1">
                <a:solidFill>
                  <a:srgbClr val="142646"/>
                </a:solidFill>
                <a:latin typeface="Aptos"/>
              </a:rPr>
              <a:t>140.6k</a:t>
            </a:r>
          </a:p>
        </p:txBody>
      </p:sp>
      <p:sp>
        <p:nvSpPr>
          <p:cNvPr id="20" name="Rectangle 19"/>
          <p:cNvSpPr/>
          <p:nvPr/>
        </p:nvSpPr>
        <p:spPr>
          <a:xfrm>
            <a:off x="2788920" y="2645937"/>
            <a:ext cx="685800" cy="3206222"/>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20847" y="2371167"/>
            <a:ext cx="21945" cy="549538"/>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022091" y="2371167"/>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022091" y="2920706"/>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60320" y="5961888"/>
            <a:ext cx="1143000" cy="411480"/>
          </a:xfrm>
          <a:prstGeom prst="rect">
            <a:avLst/>
          </a:prstGeom>
          <a:noFill/>
        </p:spPr>
        <p:txBody>
          <a:bodyPr wrap="square" anchor="t">
            <a:spAutoFit/>
          </a:bodyPr>
          <a:lstStyle/>
          <a:p>
            <a:pPr algn="ctr"/>
            <a:r>
              <a:rPr sz="1000" b="1">
                <a:solidFill>
                  <a:srgbClr val="2D3746"/>
                </a:solidFill>
                <a:latin typeface="Aptos"/>
              </a:rPr>
              <a:t>Electronics</a:t>
            </a:r>
          </a:p>
        </p:txBody>
      </p:sp>
      <p:sp>
        <p:nvSpPr>
          <p:cNvPr id="25" name="TextBox 24"/>
          <p:cNvSpPr txBox="1"/>
          <p:nvPr/>
        </p:nvSpPr>
        <p:spPr>
          <a:xfrm>
            <a:off x="2560320" y="2353329"/>
            <a:ext cx="1143000" cy="228600"/>
          </a:xfrm>
          <a:prstGeom prst="rect">
            <a:avLst/>
          </a:prstGeom>
          <a:noFill/>
        </p:spPr>
        <p:txBody>
          <a:bodyPr wrap="square" anchor="t">
            <a:spAutoFit/>
          </a:bodyPr>
          <a:lstStyle/>
          <a:p>
            <a:pPr algn="ctr"/>
            <a:r>
              <a:rPr sz="1000" b="1">
                <a:solidFill>
                  <a:srgbClr val="142646"/>
                </a:solidFill>
                <a:latin typeface="Aptos"/>
              </a:rPr>
              <a:t>143.4k</a:t>
            </a:r>
          </a:p>
        </p:txBody>
      </p:sp>
      <p:sp>
        <p:nvSpPr>
          <p:cNvPr id="26" name="Rectangle 25"/>
          <p:cNvSpPr/>
          <p:nvPr/>
        </p:nvSpPr>
        <p:spPr>
          <a:xfrm>
            <a:off x="4160520" y="3010032"/>
            <a:ext cx="685800" cy="2842127"/>
          </a:xfrm>
          <a:prstGeom prst="rect">
            <a:avLst/>
          </a:prstGeom>
          <a:solidFill>
            <a:srgbClr val="E6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92447" y="2638314"/>
            <a:ext cx="21945" cy="743436"/>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3692" y="2638314"/>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3692" y="3381750"/>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31920" y="5961888"/>
            <a:ext cx="1143000" cy="411480"/>
          </a:xfrm>
          <a:prstGeom prst="rect">
            <a:avLst/>
          </a:prstGeom>
          <a:noFill/>
        </p:spPr>
        <p:txBody>
          <a:bodyPr wrap="square" anchor="t">
            <a:spAutoFit/>
          </a:bodyPr>
          <a:lstStyle/>
          <a:p>
            <a:pPr algn="ctr"/>
            <a:r>
              <a:rPr sz="1000" b="1">
                <a:solidFill>
                  <a:srgbClr val="2D3746"/>
                </a:solidFill>
                <a:latin typeface="Aptos"/>
              </a:rPr>
              <a:t>Fashion</a:t>
            </a:r>
          </a:p>
        </p:txBody>
      </p:sp>
      <p:sp>
        <p:nvSpPr>
          <p:cNvPr id="31" name="TextBox 30"/>
          <p:cNvSpPr txBox="1"/>
          <p:nvPr/>
        </p:nvSpPr>
        <p:spPr>
          <a:xfrm>
            <a:off x="3931920" y="2717424"/>
            <a:ext cx="1143000" cy="228600"/>
          </a:xfrm>
          <a:prstGeom prst="rect">
            <a:avLst/>
          </a:prstGeom>
          <a:noFill/>
        </p:spPr>
        <p:txBody>
          <a:bodyPr wrap="square" anchor="t">
            <a:spAutoFit/>
          </a:bodyPr>
          <a:lstStyle/>
          <a:p>
            <a:pPr algn="ctr"/>
            <a:r>
              <a:rPr sz="1000" b="1">
                <a:solidFill>
                  <a:srgbClr val="142646"/>
                </a:solidFill>
                <a:latin typeface="Aptos"/>
              </a:rPr>
              <a:t>127.2k</a:t>
            </a:r>
          </a:p>
        </p:txBody>
      </p:sp>
      <p:sp>
        <p:nvSpPr>
          <p:cNvPr id="32" name="Rectangle 31"/>
          <p:cNvSpPr/>
          <p:nvPr/>
        </p:nvSpPr>
        <p:spPr>
          <a:xfrm>
            <a:off x="5532120" y="2826688"/>
            <a:ext cx="685800" cy="3025471"/>
          </a:xfrm>
          <a:prstGeom prst="rect">
            <a:avLst/>
          </a:prstGeom>
          <a:solidFill>
            <a:srgbClr val="28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64047" y="2437895"/>
            <a:ext cx="21945" cy="777586"/>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65292" y="2437895"/>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765292" y="3215482"/>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0" y="5961888"/>
            <a:ext cx="1143000" cy="411480"/>
          </a:xfrm>
          <a:prstGeom prst="rect">
            <a:avLst/>
          </a:prstGeom>
          <a:noFill/>
        </p:spPr>
        <p:txBody>
          <a:bodyPr wrap="square" anchor="t">
            <a:spAutoFit/>
          </a:bodyPr>
          <a:lstStyle/>
          <a:p>
            <a:pPr algn="ctr"/>
            <a:r>
              <a:rPr sz="1000" b="1">
                <a:solidFill>
                  <a:srgbClr val="2D3746"/>
                </a:solidFill>
                <a:latin typeface="Aptos"/>
              </a:rPr>
              <a:t>Furniture</a:t>
            </a:r>
          </a:p>
        </p:txBody>
      </p:sp>
      <p:sp>
        <p:nvSpPr>
          <p:cNvPr id="37" name="TextBox 36"/>
          <p:cNvSpPr txBox="1"/>
          <p:nvPr/>
        </p:nvSpPr>
        <p:spPr>
          <a:xfrm>
            <a:off x="5303520" y="2534080"/>
            <a:ext cx="1143000" cy="228600"/>
          </a:xfrm>
          <a:prstGeom prst="rect">
            <a:avLst/>
          </a:prstGeom>
          <a:noFill/>
        </p:spPr>
        <p:txBody>
          <a:bodyPr wrap="square" anchor="t">
            <a:spAutoFit/>
          </a:bodyPr>
          <a:lstStyle/>
          <a:p>
            <a:pPr algn="ctr"/>
            <a:r>
              <a:rPr sz="1000" b="1">
                <a:solidFill>
                  <a:srgbClr val="142646"/>
                </a:solidFill>
                <a:latin typeface="Aptos"/>
              </a:rPr>
              <a:t>135.4k</a:t>
            </a:r>
          </a:p>
        </p:txBody>
      </p:sp>
      <p:sp>
        <p:nvSpPr>
          <p:cNvPr id="38" name="Rectangle 37"/>
          <p:cNvSpPr/>
          <p:nvPr/>
        </p:nvSpPr>
        <p:spPr>
          <a:xfrm>
            <a:off x="6903720" y="2604295"/>
            <a:ext cx="685800" cy="3247864"/>
          </a:xfrm>
          <a:prstGeom prst="rect">
            <a:avLst/>
          </a:prstGeom>
          <a:solidFill>
            <a:srgbClr val="14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235647" y="2194017"/>
            <a:ext cx="21945" cy="820556"/>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36892" y="2194017"/>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136892" y="3014574"/>
            <a:ext cx="219456" cy="22860"/>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75120" y="5961888"/>
            <a:ext cx="1143000" cy="411480"/>
          </a:xfrm>
          <a:prstGeom prst="rect">
            <a:avLst/>
          </a:prstGeom>
          <a:noFill/>
        </p:spPr>
        <p:txBody>
          <a:bodyPr wrap="square" anchor="t">
            <a:spAutoFit/>
          </a:bodyPr>
          <a:lstStyle/>
          <a:p>
            <a:pPr algn="ctr"/>
            <a:r>
              <a:rPr sz="1000" b="1">
                <a:solidFill>
                  <a:srgbClr val="2D3746"/>
                </a:solidFill>
                <a:latin typeface="Aptos"/>
              </a:rPr>
              <a:t>Grocery</a:t>
            </a:r>
          </a:p>
        </p:txBody>
      </p:sp>
      <p:sp>
        <p:nvSpPr>
          <p:cNvPr id="43" name="TextBox 42"/>
          <p:cNvSpPr txBox="1"/>
          <p:nvPr/>
        </p:nvSpPr>
        <p:spPr>
          <a:xfrm>
            <a:off x="6675120" y="2311687"/>
            <a:ext cx="1143000" cy="228600"/>
          </a:xfrm>
          <a:prstGeom prst="rect">
            <a:avLst/>
          </a:prstGeom>
          <a:noFill/>
        </p:spPr>
        <p:txBody>
          <a:bodyPr wrap="square" anchor="t">
            <a:spAutoFit/>
          </a:bodyPr>
          <a:lstStyle/>
          <a:p>
            <a:pPr algn="ctr"/>
            <a:r>
              <a:rPr sz="1000" b="1">
                <a:solidFill>
                  <a:srgbClr val="142646"/>
                </a:solidFill>
                <a:latin typeface="Aptos"/>
              </a:rPr>
              <a:t>145.3k</a:t>
            </a:r>
          </a:p>
        </p:txBody>
      </p:sp>
      <p:sp>
        <p:nvSpPr>
          <p:cNvPr id="44" name="TextBox 43"/>
          <p:cNvSpPr txBox="1"/>
          <p:nvPr/>
        </p:nvSpPr>
        <p:spPr>
          <a:xfrm>
            <a:off x="8732520" y="1874519"/>
            <a:ext cx="2743200" cy="365760"/>
          </a:xfrm>
          <a:prstGeom prst="rect">
            <a:avLst/>
          </a:prstGeom>
          <a:noFill/>
        </p:spPr>
        <p:txBody>
          <a:bodyPr wrap="square" anchor="t">
            <a:spAutoFit/>
          </a:bodyPr>
          <a:lstStyle/>
          <a:p>
            <a:r>
              <a:rPr sz="1800" b="1">
                <a:solidFill>
                  <a:srgbClr val="142646"/>
                </a:solidFill>
                <a:latin typeface="Aptos"/>
              </a:rPr>
              <a:t>Key observations</a:t>
            </a:r>
          </a:p>
        </p:txBody>
      </p:sp>
      <p:sp>
        <p:nvSpPr>
          <p:cNvPr id="45" name="TextBox 44"/>
          <p:cNvSpPr txBox="1"/>
          <p:nvPr/>
        </p:nvSpPr>
        <p:spPr>
          <a:xfrm>
            <a:off x="8732520" y="2331720"/>
            <a:ext cx="2743200" cy="3017520"/>
          </a:xfrm>
          <a:prstGeom prst="rect">
            <a:avLst/>
          </a:prstGeom>
          <a:noFill/>
        </p:spPr>
        <p:txBody>
          <a:bodyPr wrap="square">
            <a:spAutoFit/>
          </a:bodyPr>
          <a:lstStyle/>
          <a:p>
            <a:pPr>
              <a:spcAft>
                <a:spcPts val="1200"/>
              </a:spcAft>
              <a:defRPr sz="1400">
                <a:solidFill>
                  <a:srgbClr val="2D3746"/>
                </a:solidFill>
                <a:latin typeface="Aptos"/>
              </a:defRPr>
            </a:pPr>
            <a:r>
              <a:t>Grocery: highest observed mean (₹145,305)</a:t>
            </a:r>
          </a:p>
          <a:p>
            <a:pPr>
              <a:spcAft>
                <a:spcPts val="1200"/>
              </a:spcAft>
              <a:defRPr sz="1400">
                <a:solidFill>
                  <a:srgbClr val="2D3746"/>
                </a:solidFill>
                <a:latin typeface="Aptos"/>
              </a:defRPr>
            </a:pPr>
            <a:r>
              <a:t>Electronics: ₹143,442</a:t>
            </a:r>
          </a:p>
          <a:p>
            <a:pPr>
              <a:spcAft>
                <a:spcPts val="1200"/>
              </a:spcAft>
              <a:defRPr sz="1400">
                <a:solidFill>
                  <a:srgbClr val="2D3746"/>
                </a:solidFill>
                <a:latin typeface="Aptos"/>
              </a:defRPr>
            </a:pPr>
            <a:r>
              <a:t>Fashion: lowest observed mean (₹127,153)</a:t>
            </a:r>
          </a:p>
          <a:p>
            <a:pPr>
              <a:spcAft>
                <a:spcPts val="1200"/>
              </a:spcAft>
              <a:defRPr sz="1400">
                <a:solidFill>
                  <a:srgbClr val="2D3746"/>
                </a:solidFill>
                <a:latin typeface="Aptos"/>
              </a:defRPr>
            </a:pPr>
            <a:r>
              <a:t>Intervals overlap considerably</a:t>
            </a:r>
          </a:p>
        </p:txBody>
      </p:sp>
      <p:sp>
        <p:nvSpPr>
          <p:cNvPr id="46" name="TextBox 45"/>
          <p:cNvSpPr txBox="1"/>
          <p:nvPr/>
        </p:nvSpPr>
        <p:spPr>
          <a:xfrm>
            <a:off x="8732520" y="5532120"/>
            <a:ext cx="2743200" cy="457200"/>
          </a:xfrm>
          <a:prstGeom prst="rect">
            <a:avLst/>
          </a:prstGeom>
          <a:noFill/>
        </p:spPr>
        <p:txBody>
          <a:bodyPr wrap="square" anchor="t">
            <a:spAutoFit/>
          </a:bodyPr>
          <a:lstStyle/>
          <a:p>
            <a:r>
              <a:rPr sz="1100" b="1">
                <a:solidFill>
                  <a:srgbClr val="B44141"/>
                </a:solidFill>
                <a:latin typeface="Aptos"/>
              </a:rPr>
              <a:t>Descriptive differences ≠ proof of significance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TextBox 1"/>
          <p:cNvSpPr txBox="1"/>
          <p:nvPr/>
        </p:nvSpPr>
        <p:spPr>
          <a:xfrm>
            <a:off x="594360" y="320040"/>
            <a:ext cx="10972800" cy="548640"/>
          </a:xfrm>
          <a:prstGeom prst="rect">
            <a:avLst/>
          </a:prstGeom>
          <a:noFill/>
        </p:spPr>
        <p:txBody>
          <a:bodyPr wrap="square" anchor="t">
            <a:spAutoFit/>
          </a:bodyPr>
          <a:lstStyle/>
          <a:p>
            <a:r>
              <a:rPr sz="2800" b="1">
                <a:solidFill>
                  <a:srgbClr val="142646"/>
                </a:solidFill>
                <a:latin typeface="Aptos"/>
              </a:rPr>
              <a:t>4. Hypothesis and statistical method</a:t>
            </a:r>
          </a:p>
        </p:txBody>
      </p:sp>
      <p:sp>
        <p:nvSpPr>
          <p:cNvPr id="3" name="TextBox 2"/>
          <p:cNvSpPr txBox="1"/>
          <p:nvPr/>
        </p:nvSpPr>
        <p:spPr>
          <a:xfrm>
            <a:off x="621792" y="896112"/>
            <a:ext cx="10881360" cy="384048"/>
          </a:xfrm>
          <a:prstGeom prst="rect">
            <a:avLst/>
          </a:prstGeom>
          <a:noFill/>
        </p:spPr>
        <p:txBody>
          <a:bodyPr wrap="square" anchor="t">
            <a:spAutoFit/>
          </a:bodyPr>
          <a:lstStyle/>
          <a:p>
            <a:r>
              <a:rPr sz="1200" b="0">
                <a:solidFill>
                  <a:srgbClr val="5F6C7A"/>
                </a:solidFill>
                <a:latin typeface="Aptos"/>
              </a:rPr>
              <a:t>One-way ANOVA compares mean Total_Sales across five independent groups</a:t>
            </a:r>
          </a:p>
        </p:txBody>
      </p:sp>
      <p:sp>
        <p:nvSpPr>
          <p:cNvPr id="4" name="Rectangle 3"/>
          <p:cNvSpPr/>
          <p:nvPr/>
        </p:nvSpPr>
        <p:spPr>
          <a:xfrm>
            <a:off x="621792" y="1307592"/>
            <a:ext cx="1051560" cy="64008"/>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73952"/>
            <a:ext cx="457200" cy="182880"/>
          </a:xfrm>
          <a:prstGeom prst="rect">
            <a:avLst/>
          </a:prstGeom>
          <a:noFill/>
        </p:spPr>
        <p:txBody>
          <a:bodyPr wrap="square" anchor="t">
            <a:spAutoFit/>
          </a:bodyPr>
          <a:lstStyle/>
          <a:p>
            <a:pPr algn="r"/>
            <a:r>
              <a:rPr sz="900" b="0">
                <a:solidFill>
                  <a:srgbClr val="5F6C7A"/>
                </a:solidFill>
                <a:latin typeface="Aptos"/>
              </a:rPr>
              <a:t>5</a:t>
            </a:r>
          </a:p>
        </p:txBody>
      </p:sp>
      <p:sp>
        <p:nvSpPr>
          <p:cNvPr id="6" name="Rounded Rectangle 5"/>
          <p:cNvSpPr/>
          <p:nvPr/>
        </p:nvSpPr>
        <p:spPr>
          <a:xfrm>
            <a:off x="822960" y="1737360"/>
            <a:ext cx="4937760" cy="14173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737360"/>
            <a:ext cx="82296" cy="1417320"/>
          </a:xfrm>
          <a:prstGeom prst="rect">
            <a:avLst/>
          </a:prstGeom>
          <a:solidFill>
            <a:srgbClr val="23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1901952"/>
            <a:ext cx="4617720" cy="320040"/>
          </a:xfrm>
          <a:prstGeom prst="rect">
            <a:avLst/>
          </a:prstGeom>
          <a:noFill/>
        </p:spPr>
        <p:txBody>
          <a:bodyPr wrap="square" anchor="t">
            <a:spAutoFit/>
          </a:bodyPr>
          <a:lstStyle/>
          <a:p>
            <a:r>
              <a:rPr sz="1300" b="1">
                <a:solidFill>
                  <a:srgbClr val="5F6C7A"/>
                </a:solidFill>
                <a:latin typeface="Aptos"/>
              </a:rPr>
              <a:t>NULL HYPOTHESIS (H₀)</a:t>
            </a:r>
          </a:p>
        </p:txBody>
      </p:sp>
      <p:sp>
        <p:nvSpPr>
          <p:cNvPr id="9" name="TextBox 8"/>
          <p:cNvSpPr txBox="1"/>
          <p:nvPr/>
        </p:nvSpPr>
        <p:spPr>
          <a:xfrm>
            <a:off x="1024128" y="2313432"/>
            <a:ext cx="4617720" cy="502920"/>
          </a:xfrm>
          <a:prstGeom prst="rect">
            <a:avLst/>
          </a:prstGeom>
          <a:noFill/>
        </p:spPr>
        <p:txBody>
          <a:bodyPr wrap="square" anchor="t">
            <a:spAutoFit/>
          </a:bodyPr>
          <a:lstStyle/>
          <a:p>
            <a:r>
              <a:rPr sz="2500" b="1">
                <a:solidFill>
                  <a:srgbClr val="142646"/>
                </a:solidFill>
                <a:latin typeface="Aptos"/>
              </a:rPr>
              <a:t>All category means are equal</a:t>
            </a:r>
          </a:p>
        </p:txBody>
      </p:sp>
      <p:sp>
        <p:nvSpPr>
          <p:cNvPr id="10" name="TextBox 9"/>
          <p:cNvSpPr txBox="1"/>
          <p:nvPr/>
        </p:nvSpPr>
        <p:spPr>
          <a:xfrm>
            <a:off x="1024128" y="2852928"/>
            <a:ext cx="4617720" cy="246888"/>
          </a:xfrm>
          <a:prstGeom prst="rect">
            <a:avLst/>
          </a:prstGeom>
          <a:noFill/>
        </p:spPr>
        <p:txBody>
          <a:bodyPr wrap="square" anchor="t">
            <a:spAutoFit/>
          </a:bodyPr>
          <a:lstStyle/>
          <a:p>
            <a:r>
              <a:rPr sz="1000" b="0">
                <a:solidFill>
                  <a:srgbClr val="5F6C7A"/>
                </a:solidFill>
                <a:latin typeface="Aptos"/>
              </a:rPr>
              <a:t>μEducation = μElectronics = μFashion = μFurniture = μGrocery</a:t>
            </a:r>
          </a:p>
        </p:txBody>
      </p:sp>
      <p:sp>
        <p:nvSpPr>
          <p:cNvPr id="11" name="Rounded Rectangle 10"/>
          <p:cNvSpPr/>
          <p:nvPr/>
        </p:nvSpPr>
        <p:spPr>
          <a:xfrm>
            <a:off x="6400800" y="1737360"/>
            <a:ext cx="4937760" cy="14173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737360"/>
            <a:ext cx="82296" cy="1417320"/>
          </a:xfrm>
          <a:prstGeom prst="rect">
            <a:avLst/>
          </a:prstGeom>
          <a:solidFill>
            <a:srgbClr val="E6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1901952"/>
            <a:ext cx="4617720" cy="320040"/>
          </a:xfrm>
          <a:prstGeom prst="rect">
            <a:avLst/>
          </a:prstGeom>
          <a:noFill/>
        </p:spPr>
        <p:txBody>
          <a:bodyPr wrap="square" anchor="t">
            <a:spAutoFit/>
          </a:bodyPr>
          <a:lstStyle/>
          <a:p>
            <a:r>
              <a:rPr sz="1300" b="1">
                <a:solidFill>
                  <a:srgbClr val="5F6C7A"/>
                </a:solidFill>
                <a:latin typeface="Aptos"/>
              </a:rPr>
              <a:t>ALTERNATIVE (H₁)</a:t>
            </a:r>
          </a:p>
        </p:txBody>
      </p:sp>
      <p:sp>
        <p:nvSpPr>
          <p:cNvPr id="14" name="TextBox 13"/>
          <p:cNvSpPr txBox="1"/>
          <p:nvPr/>
        </p:nvSpPr>
        <p:spPr>
          <a:xfrm>
            <a:off x="6601968" y="2313432"/>
            <a:ext cx="4617720" cy="502920"/>
          </a:xfrm>
          <a:prstGeom prst="rect">
            <a:avLst/>
          </a:prstGeom>
          <a:noFill/>
        </p:spPr>
        <p:txBody>
          <a:bodyPr wrap="square" anchor="t">
            <a:spAutoFit/>
          </a:bodyPr>
          <a:lstStyle/>
          <a:p>
            <a:r>
              <a:rPr sz="2500" b="1">
                <a:solidFill>
                  <a:srgbClr val="142646"/>
                </a:solidFill>
                <a:latin typeface="Aptos"/>
              </a:rPr>
              <a:t>At least one mean differs</a:t>
            </a:r>
          </a:p>
        </p:txBody>
      </p:sp>
      <p:sp>
        <p:nvSpPr>
          <p:cNvPr id="15" name="TextBox 14"/>
          <p:cNvSpPr txBox="1"/>
          <p:nvPr/>
        </p:nvSpPr>
        <p:spPr>
          <a:xfrm>
            <a:off x="6601968" y="2852928"/>
            <a:ext cx="4617720" cy="246888"/>
          </a:xfrm>
          <a:prstGeom prst="rect">
            <a:avLst/>
          </a:prstGeom>
          <a:noFill/>
        </p:spPr>
        <p:txBody>
          <a:bodyPr wrap="square" anchor="t">
            <a:spAutoFit/>
          </a:bodyPr>
          <a:lstStyle/>
          <a:p>
            <a:r>
              <a:rPr sz="1000" b="0">
                <a:solidFill>
                  <a:srgbClr val="5F6C7A"/>
                </a:solidFill>
                <a:latin typeface="Aptos"/>
              </a:rPr>
              <a:t>A statistically detectable difference exists somewhere among the group means.</a:t>
            </a:r>
          </a:p>
        </p:txBody>
      </p:sp>
      <p:sp>
        <p:nvSpPr>
          <p:cNvPr id="16" name="TextBox 15"/>
          <p:cNvSpPr txBox="1"/>
          <p:nvPr/>
        </p:nvSpPr>
        <p:spPr>
          <a:xfrm>
            <a:off x="914400" y="3657600"/>
            <a:ext cx="4846320" cy="320040"/>
          </a:xfrm>
          <a:prstGeom prst="rect">
            <a:avLst/>
          </a:prstGeom>
          <a:noFill/>
        </p:spPr>
        <p:txBody>
          <a:bodyPr wrap="square" anchor="t">
            <a:spAutoFit/>
          </a:bodyPr>
          <a:lstStyle/>
          <a:p>
            <a:r>
              <a:rPr sz="1900" b="1">
                <a:solidFill>
                  <a:srgbClr val="142646"/>
                </a:solidFill>
                <a:latin typeface="Aptos"/>
              </a:rPr>
              <a:t>Test settings</a:t>
            </a:r>
          </a:p>
        </p:txBody>
      </p:sp>
      <p:sp>
        <p:nvSpPr>
          <p:cNvPr id="17" name="TextBox 16"/>
          <p:cNvSpPr txBox="1"/>
          <p:nvPr/>
        </p:nvSpPr>
        <p:spPr>
          <a:xfrm>
            <a:off x="914400" y="4069080"/>
            <a:ext cx="5029200" cy="1554480"/>
          </a:xfrm>
          <a:prstGeom prst="rect">
            <a:avLst/>
          </a:prstGeom>
          <a:noFill/>
        </p:spPr>
        <p:txBody>
          <a:bodyPr wrap="square">
            <a:spAutoFit/>
          </a:bodyPr>
          <a:lstStyle/>
          <a:p>
            <a:pPr>
              <a:spcAft>
                <a:spcPts val="1000"/>
              </a:spcAft>
              <a:defRPr sz="1700">
                <a:solidFill>
                  <a:srgbClr val="2D3746"/>
                </a:solidFill>
                <a:latin typeface="Aptos"/>
              </a:defRPr>
            </a:pPr>
            <a:r>
              <a:t>Significance level: α = 0.05</a:t>
            </a:r>
          </a:p>
          <a:p>
            <a:pPr>
              <a:spcAft>
                <a:spcPts val="1000"/>
              </a:spcAft>
              <a:defRPr sz="1700">
                <a:solidFill>
                  <a:srgbClr val="2D3746"/>
                </a:solidFill>
                <a:latin typeface="Aptos"/>
              </a:defRPr>
            </a:pPr>
            <a:r>
              <a:t>ANOVA statistic: F = 0.717117</a:t>
            </a:r>
          </a:p>
          <a:p>
            <a:pPr>
              <a:spcAft>
                <a:spcPts val="1000"/>
              </a:spcAft>
              <a:defRPr sz="1700">
                <a:solidFill>
                  <a:srgbClr val="2D3746"/>
                </a:solidFill>
                <a:latin typeface="Aptos"/>
              </a:defRPr>
            </a:pPr>
            <a:r>
              <a:t>ANOVA p-value: 0.580286</a:t>
            </a:r>
          </a:p>
        </p:txBody>
      </p:sp>
      <p:sp>
        <p:nvSpPr>
          <p:cNvPr id="18" name="TextBox 17"/>
          <p:cNvSpPr txBox="1"/>
          <p:nvPr/>
        </p:nvSpPr>
        <p:spPr>
          <a:xfrm>
            <a:off x="6400800" y="3657600"/>
            <a:ext cx="4572000" cy="320040"/>
          </a:xfrm>
          <a:prstGeom prst="rect">
            <a:avLst/>
          </a:prstGeom>
          <a:noFill/>
        </p:spPr>
        <p:txBody>
          <a:bodyPr wrap="square" anchor="t">
            <a:spAutoFit/>
          </a:bodyPr>
          <a:lstStyle/>
          <a:p>
            <a:r>
              <a:rPr sz="1900" b="1">
                <a:solidFill>
                  <a:srgbClr val="142646"/>
                </a:solidFill>
                <a:latin typeface="Aptos"/>
              </a:rPr>
              <a:t>Decision rule</a:t>
            </a:r>
          </a:p>
        </p:txBody>
      </p:sp>
      <p:sp>
        <p:nvSpPr>
          <p:cNvPr id="19" name="TextBox 18"/>
          <p:cNvSpPr txBox="1"/>
          <p:nvPr/>
        </p:nvSpPr>
        <p:spPr>
          <a:xfrm>
            <a:off x="6400800" y="4069080"/>
            <a:ext cx="4572000" cy="1554480"/>
          </a:xfrm>
          <a:prstGeom prst="rect">
            <a:avLst/>
          </a:prstGeom>
          <a:noFill/>
        </p:spPr>
        <p:txBody>
          <a:bodyPr wrap="square">
            <a:spAutoFit/>
          </a:bodyPr>
          <a:lstStyle/>
          <a:p>
            <a:pPr>
              <a:spcAft>
                <a:spcPts val="1000"/>
              </a:spcAft>
              <a:defRPr sz="1700">
                <a:solidFill>
                  <a:srgbClr val="2D3746"/>
                </a:solidFill>
                <a:latin typeface="Aptos"/>
              </a:defRPr>
            </a:pPr>
            <a:r>
              <a:t>If p &lt; 0.05: reject H₀</a:t>
            </a:r>
          </a:p>
          <a:p>
            <a:pPr>
              <a:spcAft>
                <a:spcPts val="1000"/>
              </a:spcAft>
              <a:defRPr sz="1700">
                <a:solidFill>
                  <a:srgbClr val="2D3746"/>
                </a:solidFill>
                <a:latin typeface="Aptos"/>
              </a:defRPr>
            </a:pPr>
            <a:r>
              <a:t>If p ≥ 0.05: fail to reject H₀</a:t>
            </a:r>
          </a:p>
          <a:p>
            <a:pPr>
              <a:spcAft>
                <a:spcPts val="1000"/>
              </a:spcAft>
              <a:defRPr sz="1700">
                <a:solidFill>
                  <a:srgbClr val="2D3746"/>
                </a:solidFill>
                <a:latin typeface="Aptos"/>
              </a:defRPr>
            </a:pPr>
            <a:r>
              <a:t>Here, 0.580286 &gt; 0.05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TextBox 1"/>
          <p:cNvSpPr txBox="1"/>
          <p:nvPr/>
        </p:nvSpPr>
        <p:spPr>
          <a:xfrm>
            <a:off x="594360" y="320040"/>
            <a:ext cx="10972800" cy="548640"/>
          </a:xfrm>
          <a:prstGeom prst="rect">
            <a:avLst/>
          </a:prstGeom>
          <a:noFill/>
        </p:spPr>
        <p:txBody>
          <a:bodyPr wrap="square" anchor="t">
            <a:spAutoFit/>
          </a:bodyPr>
          <a:lstStyle/>
          <a:p>
            <a:r>
              <a:rPr sz="2800" b="1">
                <a:solidFill>
                  <a:srgbClr val="142646"/>
                </a:solidFill>
                <a:latin typeface="Aptos"/>
              </a:rPr>
              <a:t>5. Statistical validation</a:t>
            </a:r>
          </a:p>
        </p:txBody>
      </p:sp>
      <p:sp>
        <p:nvSpPr>
          <p:cNvPr id="3" name="TextBox 2"/>
          <p:cNvSpPr txBox="1"/>
          <p:nvPr/>
        </p:nvSpPr>
        <p:spPr>
          <a:xfrm>
            <a:off x="621792" y="896112"/>
            <a:ext cx="10881360" cy="384048"/>
          </a:xfrm>
          <a:prstGeom prst="rect">
            <a:avLst/>
          </a:prstGeom>
          <a:noFill/>
        </p:spPr>
        <p:txBody>
          <a:bodyPr wrap="square" anchor="t">
            <a:spAutoFit/>
          </a:bodyPr>
          <a:lstStyle/>
          <a:p>
            <a:r>
              <a:rPr sz="1200" b="0">
                <a:solidFill>
                  <a:srgbClr val="5F6C7A"/>
                </a:solidFill>
                <a:latin typeface="Aptos"/>
              </a:rPr>
              <a:t>Cross-check findings and report assumptions transparently</a:t>
            </a:r>
          </a:p>
        </p:txBody>
      </p:sp>
      <p:sp>
        <p:nvSpPr>
          <p:cNvPr id="4" name="Rectangle 3"/>
          <p:cNvSpPr/>
          <p:nvPr/>
        </p:nvSpPr>
        <p:spPr>
          <a:xfrm>
            <a:off x="621792" y="1307592"/>
            <a:ext cx="1051560" cy="64008"/>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73952"/>
            <a:ext cx="457200" cy="182880"/>
          </a:xfrm>
          <a:prstGeom prst="rect">
            <a:avLst/>
          </a:prstGeom>
          <a:noFill/>
        </p:spPr>
        <p:txBody>
          <a:bodyPr wrap="square" anchor="t">
            <a:spAutoFit/>
          </a:bodyPr>
          <a:lstStyle/>
          <a:p>
            <a:pPr algn="r"/>
            <a:r>
              <a:rPr sz="900" b="0">
                <a:solidFill>
                  <a:srgbClr val="5F6C7A"/>
                </a:solidFill>
                <a:latin typeface="Aptos"/>
              </a:rPr>
              <a:t>6</a:t>
            </a:r>
          </a:p>
        </p:txBody>
      </p:sp>
      <p:graphicFrame>
        <p:nvGraphicFramePr>
          <p:cNvPr id="6" name="Table 5"/>
          <p:cNvGraphicFramePr>
            <a:graphicFrameLocks noGrp="1"/>
          </p:cNvGraphicFramePr>
          <p:nvPr/>
        </p:nvGraphicFramePr>
        <p:xfrm>
          <a:off x="685800" y="1783080"/>
          <a:ext cx="10835640" cy="2148840"/>
        </p:xfrm>
        <a:graphic>
          <a:graphicData uri="http://schemas.openxmlformats.org/drawingml/2006/table">
            <a:tbl>
              <a:tblPr firstRow="1" bandRow="1">
                <a:tableStyleId>{5C22544A-7EE6-4342-B048-85BDC9FD1C3A}</a:tableStyleId>
              </a:tblPr>
              <a:tblGrid>
                <a:gridCol w="2057400"/>
                <a:gridCol w="1508760"/>
                <a:gridCol w="1508760"/>
                <a:gridCol w="5760720"/>
              </a:tblGrid>
              <a:tr h="537210">
                <a:tc>
                  <a:txBody>
                    <a:bodyPr/>
                    <a:lstStyle/>
                    <a:p>
                      <a:pPr>
                        <a:defRPr b="1" sz="1200">
                          <a:solidFill>
                            <a:srgbClr val="FFFFFF"/>
                          </a:solidFill>
                        </a:defRPr>
                      </a:pPr>
                      <a:r>
                        <a:t>Test</a:t>
                      </a:r>
                    </a:p>
                  </a:txBody>
                  <a:tcPr>
                    <a:solidFill>
                      <a:srgbClr val="142646"/>
                    </a:solidFill>
                  </a:tcPr>
                </a:tc>
                <a:tc>
                  <a:txBody>
                    <a:bodyPr/>
                    <a:lstStyle/>
                    <a:p>
                      <a:pPr>
                        <a:defRPr b="1" sz="1200">
                          <a:solidFill>
                            <a:srgbClr val="FFFFFF"/>
                          </a:solidFill>
                        </a:defRPr>
                      </a:pPr>
                      <a:r>
                        <a:t>Statistic</a:t>
                      </a:r>
                    </a:p>
                  </a:txBody>
                  <a:tcPr>
                    <a:solidFill>
                      <a:srgbClr val="142646"/>
                    </a:solidFill>
                  </a:tcPr>
                </a:tc>
                <a:tc>
                  <a:txBody>
                    <a:bodyPr/>
                    <a:lstStyle/>
                    <a:p>
                      <a:pPr>
                        <a:defRPr b="1" sz="1200">
                          <a:solidFill>
                            <a:srgbClr val="FFFFFF"/>
                          </a:solidFill>
                        </a:defRPr>
                      </a:pPr>
                      <a:r>
                        <a:t>P-value</a:t>
                      </a:r>
                    </a:p>
                  </a:txBody>
                  <a:tcPr>
                    <a:solidFill>
                      <a:srgbClr val="142646"/>
                    </a:solidFill>
                  </a:tcPr>
                </a:tc>
                <a:tc>
                  <a:txBody>
                    <a:bodyPr/>
                    <a:lstStyle/>
                    <a:p>
                      <a:pPr>
                        <a:defRPr b="1" sz="1200">
                          <a:solidFill>
                            <a:srgbClr val="FFFFFF"/>
                          </a:solidFill>
                        </a:defRPr>
                      </a:pPr>
                      <a:r>
                        <a:t>Interpretation</a:t>
                      </a:r>
                    </a:p>
                  </a:txBody>
                  <a:tcPr>
                    <a:solidFill>
                      <a:srgbClr val="142646"/>
                    </a:solidFill>
                  </a:tcPr>
                </a:tc>
              </a:tr>
              <a:tr h="537210">
                <a:tc>
                  <a:txBody>
                    <a:bodyPr/>
                    <a:lstStyle/>
                    <a:p>
                      <a:pPr>
                        <a:defRPr sz="1100">
                          <a:solidFill>
                            <a:srgbClr val="2D3746"/>
                          </a:solidFill>
                        </a:defRPr>
                      </a:pPr>
                      <a:r>
                        <a:t>One-way ANOVA</a:t>
                      </a:r>
                    </a:p>
                  </a:txBody>
                  <a:tcPr>
                    <a:solidFill>
                      <a:srgbClr val="FFFFFF"/>
                    </a:solidFill>
                  </a:tcPr>
                </a:tc>
                <a:tc>
                  <a:txBody>
                    <a:bodyPr/>
                    <a:lstStyle/>
                    <a:p>
                      <a:pPr>
                        <a:defRPr sz="1100">
                          <a:solidFill>
                            <a:srgbClr val="2D3746"/>
                          </a:solidFill>
                        </a:defRPr>
                      </a:pPr>
                      <a:r>
                        <a:t>0.717117</a:t>
                      </a:r>
                    </a:p>
                  </a:txBody>
                  <a:tcPr>
                    <a:solidFill>
                      <a:srgbClr val="FFFFFF"/>
                    </a:solidFill>
                  </a:tcPr>
                </a:tc>
                <a:tc>
                  <a:txBody>
                    <a:bodyPr/>
                    <a:lstStyle/>
                    <a:p>
                      <a:pPr>
                        <a:defRPr sz="1100">
                          <a:solidFill>
                            <a:srgbClr val="2D3746"/>
                          </a:solidFill>
                        </a:defRPr>
                      </a:pPr>
                      <a:r>
                        <a:t>0.580286</a:t>
                      </a:r>
                    </a:p>
                  </a:txBody>
                  <a:tcPr>
                    <a:solidFill>
                      <a:srgbClr val="FFFFFF"/>
                    </a:solidFill>
                  </a:tcPr>
                </a:tc>
                <a:tc>
                  <a:txBody>
                    <a:bodyPr/>
                    <a:lstStyle/>
                    <a:p>
                      <a:pPr>
                        <a:defRPr sz="1100">
                          <a:solidFill>
                            <a:srgbClr val="2D3746"/>
                          </a:solidFill>
                        </a:defRPr>
                      </a:pPr>
                      <a:r>
                        <a:t>No significant evidence of different means</a:t>
                      </a:r>
                    </a:p>
                  </a:txBody>
                  <a:tcPr>
                    <a:solidFill>
                      <a:srgbClr val="FFFFFF"/>
                    </a:solidFill>
                  </a:tcPr>
                </a:tc>
              </a:tr>
              <a:tr h="537210">
                <a:tc>
                  <a:txBody>
                    <a:bodyPr/>
                    <a:lstStyle/>
                    <a:p>
                      <a:pPr>
                        <a:defRPr sz="1100">
                          <a:solidFill>
                            <a:srgbClr val="2D3746"/>
                          </a:solidFill>
                        </a:defRPr>
                      </a:pPr>
                      <a:r>
                        <a:t>Kruskal–Wallis</a:t>
                      </a:r>
                    </a:p>
                  </a:txBody>
                  <a:tcPr>
                    <a:solidFill>
                      <a:srgbClr val="F0F5FA"/>
                    </a:solidFill>
                  </a:tcPr>
                </a:tc>
                <a:tc>
                  <a:txBody>
                    <a:bodyPr/>
                    <a:lstStyle/>
                    <a:p>
                      <a:pPr>
                        <a:defRPr sz="1100">
                          <a:solidFill>
                            <a:srgbClr val="2D3746"/>
                          </a:solidFill>
                        </a:defRPr>
                      </a:pPr>
                      <a:r>
                        <a:t>2.006635</a:t>
                      </a:r>
                    </a:p>
                  </a:txBody>
                  <a:tcPr>
                    <a:solidFill>
                      <a:srgbClr val="F0F5FA"/>
                    </a:solidFill>
                  </a:tcPr>
                </a:tc>
                <a:tc>
                  <a:txBody>
                    <a:bodyPr/>
                    <a:lstStyle/>
                    <a:p>
                      <a:pPr>
                        <a:defRPr sz="1100">
                          <a:solidFill>
                            <a:srgbClr val="2D3746"/>
                          </a:solidFill>
                        </a:defRPr>
                      </a:pPr>
                      <a:r>
                        <a:t>0.734538</a:t>
                      </a:r>
                    </a:p>
                  </a:txBody>
                  <a:tcPr>
                    <a:solidFill>
                      <a:srgbClr val="F0F5FA"/>
                    </a:solidFill>
                  </a:tcPr>
                </a:tc>
                <a:tc>
                  <a:txBody>
                    <a:bodyPr/>
                    <a:lstStyle/>
                    <a:p>
                      <a:pPr>
                        <a:defRPr sz="1100">
                          <a:solidFill>
                            <a:srgbClr val="2D3746"/>
                          </a:solidFill>
                        </a:defRPr>
                      </a:pPr>
                      <a:r>
                        <a:t>No significant evidence of distribution differences</a:t>
                      </a:r>
                    </a:p>
                  </a:txBody>
                  <a:tcPr>
                    <a:solidFill>
                      <a:srgbClr val="F0F5FA"/>
                    </a:solidFill>
                  </a:tcPr>
                </a:tc>
              </a:tr>
              <a:tr h="537210">
                <a:tc>
                  <a:txBody>
                    <a:bodyPr/>
                    <a:lstStyle/>
                    <a:p>
                      <a:pPr>
                        <a:defRPr sz="1100">
                          <a:solidFill>
                            <a:srgbClr val="2D3746"/>
                          </a:solidFill>
                        </a:defRPr>
                      </a:pPr>
                      <a:r>
                        <a:t>Levene's test</a:t>
                      </a:r>
                    </a:p>
                  </a:txBody>
                  <a:tcPr>
                    <a:solidFill>
                      <a:srgbClr val="FFFFFF"/>
                    </a:solidFill>
                  </a:tcPr>
                </a:tc>
                <a:tc>
                  <a:txBody>
                    <a:bodyPr/>
                    <a:lstStyle/>
                    <a:p>
                      <a:pPr>
                        <a:defRPr sz="1100">
                          <a:solidFill>
                            <a:srgbClr val="2D3746"/>
                          </a:solidFill>
                        </a:defRPr>
                      </a:pPr>
                      <a:r>
                        <a:t>0.978652</a:t>
                      </a:r>
                    </a:p>
                  </a:txBody>
                  <a:tcPr>
                    <a:solidFill>
                      <a:srgbClr val="FFFFFF"/>
                    </a:solidFill>
                  </a:tcPr>
                </a:tc>
                <a:tc>
                  <a:txBody>
                    <a:bodyPr/>
                    <a:lstStyle/>
                    <a:p>
                      <a:pPr>
                        <a:defRPr sz="1100">
                          <a:solidFill>
                            <a:srgbClr val="2D3746"/>
                          </a:solidFill>
                        </a:defRPr>
                      </a:pPr>
                      <a:r>
                        <a:t>0.418205</a:t>
                      </a:r>
                    </a:p>
                  </a:txBody>
                  <a:tcPr>
                    <a:solidFill>
                      <a:srgbClr val="FFFFFF"/>
                    </a:solidFill>
                  </a:tcPr>
                </a:tc>
                <a:tc>
                  <a:txBody>
                    <a:bodyPr/>
                    <a:lstStyle/>
                    <a:p>
                      <a:pPr>
                        <a:defRPr sz="1100">
                          <a:solidFill>
                            <a:srgbClr val="2D3746"/>
                          </a:solidFill>
                        </a:defRPr>
                      </a:pPr>
                      <a:r>
                        <a:t>No significant evidence of unequal variances</a:t>
                      </a:r>
                    </a:p>
                  </a:txBody>
                  <a:tcPr>
                    <a:solidFill>
                      <a:srgbClr val="FFFFFF"/>
                    </a:solidFill>
                  </a:tcPr>
                </a:tc>
              </a:tr>
            </a:tbl>
          </a:graphicData>
        </a:graphic>
      </p:graphicFrame>
      <p:sp>
        <p:nvSpPr>
          <p:cNvPr id="7" name="TextBox 6"/>
          <p:cNvSpPr txBox="1"/>
          <p:nvPr/>
        </p:nvSpPr>
        <p:spPr>
          <a:xfrm>
            <a:off x="868680" y="4251960"/>
            <a:ext cx="10515600" cy="411480"/>
          </a:xfrm>
          <a:prstGeom prst="rect">
            <a:avLst/>
          </a:prstGeom>
          <a:noFill/>
        </p:spPr>
        <p:txBody>
          <a:bodyPr wrap="square" anchor="t">
            <a:spAutoFit/>
          </a:bodyPr>
          <a:lstStyle/>
          <a:p>
            <a:r>
              <a:rPr sz="1800" b="1">
                <a:solidFill>
                  <a:srgbClr val="142646"/>
                </a:solidFill>
                <a:latin typeface="Aptos"/>
              </a:rPr>
              <a:t>Assumption and data-quality notes</a:t>
            </a:r>
          </a:p>
        </p:txBody>
      </p:sp>
      <p:sp>
        <p:nvSpPr>
          <p:cNvPr id="8" name="TextBox 7"/>
          <p:cNvSpPr txBox="1"/>
          <p:nvPr/>
        </p:nvSpPr>
        <p:spPr>
          <a:xfrm>
            <a:off x="914400" y="4663440"/>
            <a:ext cx="10424160" cy="1371600"/>
          </a:xfrm>
          <a:prstGeom prst="rect">
            <a:avLst/>
          </a:prstGeom>
          <a:noFill/>
        </p:spPr>
        <p:txBody>
          <a:bodyPr wrap="square">
            <a:spAutoFit/>
          </a:bodyPr>
          <a:lstStyle/>
          <a:p>
            <a:pPr>
              <a:spcAft>
                <a:spcPts val="500"/>
              </a:spcAft>
              <a:defRPr sz="1300">
                <a:solidFill>
                  <a:srgbClr val="2D3746"/>
                </a:solidFill>
                <a:latin typeface="Aptos"/>
              </a:defRPr>
            </a:pPr>
            <a:r>
              <a:t>Levene's p = 0.418205: no statistically significant evidence of unequal variances.</a:t>
            </a:r>
          </a:p>
          <a:p>
            <a:pPr>
              <a:spcAft>
                <a:spcPts val="500"/>
              </a:spcAft>
              <a:defRPr sz="1300">
                <a:solidFill>
                  <a:srgbClr val="2D3746"/>
                </a:solidFill>
                <a:latin typeface="Aptos"/>
              </a:defRPr>
            </a:pPr>
            <a:r>
              <a:t>Sales are positively skewed; the box plot shows potential high-value outliers.</a:t>
            </a:r>
          </a:p>
          <a:p>
            <a:pPr>
              <a:spcAft>
                <a:spcPts val="500"/>
              </a:spcAft>
              <a:defRPr sz="1300">
                <a:solidFill>
                  <a:srgbClr val="2D3746"/>
                </a:solidFill>
                <a:latin typeface="Aptos"/>
              </a:defRPr>
            </a:pPr>
            <a:r>
              <a:t>Kruskal–Wallis provides a non-parametric cross-check, but tests distributions/ranks, not means.</a:t>
            </a:r>
          </a:p>
          <a:p>
            <a:pPr>
              <a:spcAft>
                <a:spcPts val="500"/>
              </a:spcAft>
              <a:defRPr sz="1300">
                <a:solidFill>
                  <a:srgbClr val="2D3746"/>
                </a:solidFill>
                <a:latin typeface="Aptos"/>
              </a:defRPr>
            </a:pPr>
            <a:r>
              <a:t>Independence depends on how rows were generated; repeated customer/order records may affect interpretation.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TextBox 1"/>
          <p:cNvSpPr txBox="1"/>
          <p:nvPr/>
        </p:nvSpPr>
        <p:spPr>
          <a:xfrm>
            <a:off x="594360" y="320040"/>
            <a:ext cx="10972800" cy="548640"/>
          </a:xfrm>
          <a:prstGeom prst="rect">
            <a:avLst/>
          </a:prstGeom>
          <a:noFill/>
        </p:spPr>
        <p:txBody>
          <a:bodyPr wrap="square" anchor="t">
            <a:spAutoFit/>
          </a:bodyPr>
          <a:lstStyle/>
          <a:p>
            <a:r>
              <a:rPr sz="2800" b="1">
                <a:solidFill>
                  <a:srgbClr val="142646"/>
                </a:solidFill>
                <a:latin typeface="Aptos"/>
              </a:rPr>
              <a:t>6. Business insights and recommended actions</a:t>
            </a:r>
          </a:p>
        </p:txBody>
      </p:sp>
      <p:sp>
        <p:nvSpPr>
          <p:cNvPr id="3" name="TextBox 2"/>
          <p:cNvSpPr txBox="1"/>
          <p:nvPr/>
        </p:nvSpPr>
        <p:spPr>
          <a:xfrm>
            <a:off x="621792" y="896112"/>
            <a:ext cx="10881360" cy="384048"/>
          </a:xfrm>
          <a:prstGeom prst="rect">
            <a:avLst/>
          </a:prstGeom>
          <a:noFill/>
        </p:spPr>
        <p:txBody>
          <a:bodyPr wrap="square" anchor="t">
            <a:spAutoFit/>
          </a:bodyPr>
          <a:lstStyle/>
          <a:p>
            <a:r>
              <a:rPr sz="1200" b="0">
                <a:solidFill>
                  <a:srgbClr val="5F6C7A"/>
                </a:solidFill>
                <a:latin typeface="Aptos"/>
              </a:rPr>
              <a:t>Use the evidence to guide the next analysis—not to overclaim</a:t>
            </a:r>
          </a:p>
        </p:txBody>
      </p:sp>
      <p:sp>
        <p:nvSpPr>
          <p:cNvPr id="4" name="Rectangle 3"/>
          <p:cNvSpPr/>
          <p:nvPr/>
        </p:nvSpPr>
        <p:spPr>
          <a:xfrm>
            <a:off x="621792" y="1307592"/>
            <a:ext cx="1051560" cy="64008"/>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73952"/>
            <a:ext cx="457200" cy="182880"/>
          </a:xfrm>
          <a:prstGeom prst="rect">
            <a:avLst/>
          </a:prstGeom>
          <a:noFill/>
        </p:spPr>
        <p:txBody>
          <a:bodyPr wrap="square" anchor="t">
            <a:spAutoFit/>
          </a:bodyPr>
          <a:lstStyle/>
          <a:p>
            <a:pPr algn="r"/>
            <a:r>
              <a:rPr sz="900" b="0">
                <a:solidFill>
                  <a:srgbClr val="5F6C7A"/>
                </a:solidFill>
                <a:latin typeface="Aptos"/>
              </a:rPr>
              <a:t>7</a:t>
            </a:r>
          </a:p>
        </p:txBody>
      </p:sp>
      <p:sp>
        <p:nvSpPr>
          <p:cNvPr id="6" name="TextBox 5"/>
          <p:cNvSpPr txBox="1"/>
          <p:nvPr/>
        </p:nvSpPr>
        <p:spPr>
          <a:xfrm>
            <a:off x="868680" y="1737360"/>
            <a:ext cx="4754880" cy="411480"/>
          </a:xfrm>
          <a:prstGeom prst="rect">
            <a:avLst/>
          </a:prstGeom>
          <a:noFill/>
        </p:spPr>
        <p:txBody>
          <a:bodyPr wrap="square" anchor="t">
            <a:spAutoFit/>
          </a:bodyPr>
          <a:lstStyle/>
          <a:p>
            <a:r>
              <a:rPr sz="2000" b="1">
                <a:solidFill>
                  <a:srgbClr val="28875F"/>
                </a:solidFill>
                <a:latin typeface="Aptos"/>
              </a:rPr>
              <a:t>What the evidence supports</a:t>
            </a:r>
          </a:p>
        </p:txBody>
      </p:sp>
      <p:sp>
        <p:nvSpPr>
          <p:cNvPr id="7" name="TextBox 6"/>
          <p:cNvSpPr txBox="1"/>
          <p:nvPr/>
        </p:nvSpPr>
        <p:spPr>
          <a:xfrm>
            <a:off x="914400" y="2240280"/>
            <a:ext cx="4846320" cy="3108960"/>
          </a:xfrm>
          <a:prstGeom prst="rect">
            <a:avLst/>
          </a:prstGeom>
          <a:noFill/>
        </p:spPr>
        <p:txBody>
          <a:bodyPr wrap="square">
            <a:spAutoFit/>
          </a:bodyPr>
          <a:lstStyle/>
          <a:p>
            <a:pPr>
              <a:spcAft>
                <a:spcPts val="1200"/>
              </a:spcAft>
              <a:defRPr sz="1700">
                <a:solidFill>
                  <a:srgbClr val="2D3746"/>
                </a:solidFill>
                <a:latin typeface="Aptos"/>
              </a:defRPr>
            </a:pPr>
            <a:r>
              <a:t>Observed category averages vary, but the tests did not find statistically significant differences.</a:t>
            </a:r>
          </a:p>
          <a:p>
            <a:pPr>
              <a:spcAft>
                <a:spcPts val="1200"/>
              </a:spcAft>
              <a:defRPr sz="1700">
                <a:solidFill>
                  <a:srgbClr val="2D3746"/>
                </a:solidFill>
                <a:latin typeface="Aptos"/>
              </a:defRPr>
            </a:pPr>
            <a:r>
              <a:t>Grocery and Electronics have the highest observed averages in this dataset.</a:t>
            </a:r>
          </a:p>
          <a:p>
            <a:pPr>
              <a:spcAft>
                <a:spcPts val="1200"/>
              </a:spcAft>
              <a:defRPr sz="1700">
                <a:solidFill>
                  <a:srgbClr val="2D3746"/>
                </a:solidFill>
                <a:latin typeface="Aptos"/>
              </a:defRPr>
            </a:pPr>
            <a:r>
              <a:t>The analysis does not establish that category causes higher sales.</a:t>
            </a:r>
          </a:p>
        </p:txBody>
      </p:sp>
      <p:sp>
        <p:nvSpPr>
          <p:cNvPr id="8" name="TextBox 7"/>
          <p:cNvSpPr txBox="1"/>
          <p:nvPr/>
        </p:nvSpPr>
        <p:spPr>
          <a:xfrm>
            <a:off x="6400800" y="1737360"/>
            <a:ext cx="4754880" cy="411480"/>
          </a:xfrm>
          <a:prstGeom prst="rect">
            <a:avLst/>
          </a:prstGeom>
          <a:noFill/>
        </p:spPr>
        <p:txBody>
          <a:bodyPr wrap="square" anchor="t">
            <a:spAutoFit/>
          </a:bodyPr>
          <a:lstStyle/>
          <a:p>
            <a:r>
              <a:rPr sz="2000" b="1">
                <a:solidFill>
                  <a:srgbClr val="2364AA"/>
                </a:solidFill>
                <a:latin typeface="Aptos"/>
              </a:rPr>
              <a:t>Practical next steps</a:t>
            </a:r>
          </a:p>
        </p:txBody>
      </p:sp>
      <p:sp>
        <p:nvSpPr>
          <p:cNvPr id="9" name="TextBox 8"/>
          <p:cNvSpPr txBox="1"/>
          <p:nvPr/>
        </p:nvSpPr>
        <p:spPr>
          <a:xfrm>
            <a:off x="6446520" y="2240280"/>
            <a:ext cx="4754880" cy="3108960"/>
          </a:xfrm>
          <a:prstGeom prst="rect">
            <a:avLst/>
          </a:prstGeom>
          <a:noFill/>
        </p:spPr>
        <p:txBody>
          <a:bodyPr wrap="square">
            <a:spAutoFit/>
          </a:bodyPr>
          <a:lstStyle/>
          <a:p>
            <a:pPr>
              <a:spcAft>
                <a:spcPts val="1000"/>
              </a:spcAft>
              <a:defRPr sz="1600">
                <a:solidFill>
                  <a:srgbClr val="2D3746"/>
                </a:solidFill>
                <a:latin typeface="Aptos"/>
              </a:defRPr>
            </a:pPr>
            <a:r>
              <a:t>Track category performance over time using monthly or quarterly trends.</a:t>
            </a:r>
          </a:p>
          <a:p>
            <a:pPr>
              <a:spcAft>
                <a:spcPts val="1000"/>
              </a:spcAft>
              <a:defRPr sz="1600">
                <a:solidFill>
                  <a:srgbClr val="2D3746"/>
                </a:solidFill>
                <a:latin typeface="Aptos"/>
              </a:defRPr>
            </a:pPr>
            <a:r>
              <a:t>Analyze total revenue, order counts, and average order value separately.</a:t>
            </a:r>
          </a:p>
          <a:p>
            <a:pPr>
              <a:spcAft>
                <a:spcPts val="1000"/>
              </a:spcAft>
              <a:defRPr sz="1600">
                <a:solidFill>
                  <a:srgbClr val="2D3746"/>
                </a:solidFill>
                <a:latin typeface="Aptos"/>
              </a:defRPr>
            </a:pPr>
            <a:r>
              <a:t>Consider customer-level or order-level aggregation to address repeated observations.</a:t>
            </a:r>
          </a:p>
          <a:p>
            <a:pPr>
              <a:spcAft>
                <a:spcPts val="1000"/>
              </a:spcAft>
              <a:defRPr sz="1600">
                <a:solidFill>
                  <a:srgbClr val="2D3746"/>
                </a:solidFill>
                <a:latin typeface="Aptos"/>
              </a:defRPr>
            </a:pPr>
            <a:r>
              <a:t>Collect more data before making category-specific investment decisions.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646"/>
        </a:solidFill>
        <a:effectLst/>
      </p:bgPr>
    </p:bg>
    <p:spTree>
      <p:nvGrpSpPr>
        <p:cNvPr id="1" name=""/>
        <p:cNvGrpSpPr/>
        <p:nvPr/>
      </p:nvGrpSpPr>
      <p:grpSpPr/>
      <p:sp>
        <p:nvSpPr>
          <p:cNvPr id="2" name="TextBox 1"/>
          <p:cNvSpPr txBox="1"/>
          <p:nvPr/>
        </p:nvSpPr>
        <p:spPr>
          <a:xfrm>
            <a:off x="822960" y="594360"/>
            <a:ext cx="10515600" cy="502920"/>
          </a:xfrm>
          <a:prstGeom prst="rect">
            <a:avLst/>
          </a:prstGeom>
          <a:noFill/>
        </p:spPr>
        <p:txBody>
          <a:bodyPr wrap="square" anchor="t">
            <a:spAutoFit/>
          </a:bodyPr>
          <a:lstStyle/>
          <a:p>
            <a:r>
              <a:rPr sz="1600" b="1">
                <a:solidFill>
                  <a:srgbClr val="009691"/>
                </a:solidFill>
                <a:latin typeface="Aptos"/>
              </a:rPr>
              <a:t>CONCLUSION</a:t>
            </a:r>
          </a:p>
        </p:txBody>
      </p:sp>
      <p:sp>
        <p:nvSpPr>
          <p:cNvPr id="3" name="TextBox 2"/>
          <p:cNvSpPr txBox="1"/>
          <p:nvPr/>
        </p:nvSpPr>
        <p:spPr>
          <a:xfrm>
            <a:off x="822960" y="1234440"/>
            <a:ext cx="10515600" cy="777240"/>
          </a:xfrm>
          <a:prstGeom prst="rect">
            <a:avLst/>
          </a:prstGeom>
          <a:noFill/>
        </p:spPr>
        <p:txBody>
          <a:bodyPr wrap="square" anchor="t">
            <a:spAutoFit/>
          </a:bodyPr>
          <a:lstStyle/>
          <a:p>
            <a:r>
              <a:rPr sz="2800" b="1">
                <a:solidFill>
                  <a:srgbClr val="FFFFFF"/>
                </a:solidFill>
                <a:latin typeface="Aptos"/>
              </a:rPr>
              <a:t>Statistical validation helps separate patterns from evidence.</a:t>
            </a:r>
          </a:p>
        </p:txBody>
      </p:sp>
      <p:sp>
        <p:nvSpPr>
          <p:cNvPr id="4" name="TextBox 3"/>
          <p:cNvSpPr txBox="1"/>
          <p:nvPr/>
        </p:nvSpPr>
        <p:spPr>
          <a:xfrm>
            <a:off x="914400" y="2423160"/>
            <a:ext cx="9875520" cy="2011680"/>
          </a:xfrm>
          <a:prstGeom prst="rect">
            <a:avLst/>
          </a:prstGeom>
          <a:noFill/>
        </p:spPr>
        <p:txBody>
          <a:bodyPr wrap="square">
            <a:spAutoFit/>
          </a:bodyPr>
          <a:lstStyle/>
          <a:p>
            <a:pPr>
              <a:spcAft>
                <a:spcPts val="1200"/>
              </a:spcAft>
              <a:defRPr sz="1800">
                <a:solidFill>
                  <a:srgbClr val="FFFFFF"/>
                </a:solidFill>
                <a:latin typeface="Aptos"/>
              </a:defRPr>
            </a:pPr>
            <a:r>
              <a:t>ANOVA: p = 0.580286 — fail to reject H₀.</a:t>
            </a:r>
          </a:p>
          <a:p>
            <a:pPr>
              <a:spcAft>
                <a:spcPts val="1200"/>
              </a:spcAft>
              <a:defRPr sz="1800">
                <a:solidFill>
                  <a:srgbClr val="FFFFFF"/>
                </a:solidFill>
                <a:latin typeface="Aptos"/>
              </a:defRPr>
            </a:pPr>
            <a:r>
              <a:t>Kruskal–Wallis: p = 0.734538 — no significant distribution difference detected.</a:t>
            </a:r>
          </a:p>
          <a:p>
            <a:pPr>
              <a:spcAft>
                <a:spcPts val="1200"/>
              </a:spcAft>
              <a:defRPr sz="1800">
                <a:solidFill>
                  <a:srgbClr val="FFFFFF"/>
                </a:solidFill>
                <a:latin typeface="Aptos"/>
              </a:defRPr>
            </a:pPr>
            <a:r>
              <a:t>Levene's test: p = 0.418205 — no significant evidence of unequal variances.</a:t>
            </a:r>
          </a:p>
          <a:p>
            <a:pPr>
              <a:spcAft>
                <a:spcPts val="1200"/>
              </a:spcAft>
              <a:defRPr sz="1800">
                <a:solidFill>
                  <a:srgbClr val="FFFFFF"/>
                </a:solidFill>
                <a:latin typeface="Aptos"/>
              </a:defRPr>
            </a:pPr>
            <a:r>
              <a:t>Business takeaway: keep monitoring category performance; avoid strong claims based on observed means alone.</a:t>
            </a:r>
          </a:p>
        </p:txBody>
      </p:sp>
      <p:sp>
        <p:nvSpPr>
          <p:cNvPr id="5" name="TextBox 4"/>
          <p:cNvSpPr txBox="1"/>
          <p:nvPr/>
        </p:nvSpPr>
        <p:spPr>
          <a:xfrm>
            <a:off x="868680" y="5669280"/>
            <a:ext cx="9601200" cy="411480"/>
          </a:xfrm>
          <a:prstGeom prst="rect">
            <a:avLst/>
          </a:prstGeom>
          <a:noFill/>
        </p:spPr>
        <p:txBody>
          <a:bodyPr wrap="square" anchor="t">
            <a:spAutoFit/>
          </a:bodyPr>
          <a:lstStyle/>
          <a:p>
            <a:r>
              <a:rPr sz="1800" b="1">
                <a:solidFill>
                  <a:srgbClr val="D2DEEE"/>
                </a:solidFill>
                <a:latin typeface="Aptos"/>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